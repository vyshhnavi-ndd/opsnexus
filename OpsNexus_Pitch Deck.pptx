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TT Firs Neue Bold" charset="1" panose="02000803030000020004"/>
      <p:regular r:id="rId13"/>
    </p:embeddedFont>
    <p:embeddedFont>
      <p:font typeface="TT Firs Neue" charset="1" panose="02000503030000020004"/>
      <p:regular r:id="rId14"/>
    </p:embeddedFont>
    <p:embeddedFont>
      <p:font typeface="Canva Sans" charset="1" panose="020B0503030501040103"/>
      <p:regular r:id="rId15"/>
    </p:embeddedFont>
    <p:embeddedFont>
      <p:font typeface="Aptos Bold" charset="1" panose="020B0004020202020204"/>
      <p:regular r:id="rId16"/>
    </p:embeddedFont>
    <p:embeddedFont>
      <p:font typeface="Aptos" charset="1" panose="020B0004020202020204"/>
      <p:regular r:id="rId17"/>
    </p:embeddedFont>
    <p:embeddedFont>
      <p:font typeface="Aptos Italics" charset="1" panose="020B000402020209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02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40848" y="7534385"/>
            <a:ext cx="17006305" cy="17006305"/>
          </a:xfrm>
          <a:custGeom>
            <a:avLst/>
            <a:gdLst/>
            <a:ahLst/>
            <a:cxnLst/>
            <a:rect r="r" b="b" t="t" l="l"/>
            <a:pathLst>
              <a:path h="17006305" w="17006305">
                <a:moveTo>
                  <a:pt x="0" y="0"/>
                </a:moveTo>
                <a:lnTo>
                  <a:pt x="17006304" y="0"/>
                </a:lnTo>
                <a:lnTo>
                  <a:pt x="17006304" y="17006305"/>
                </a:lnTo>
                <a:lnTo>
                  <a:pt x="0" y="170063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526149" y="5330510"/>
            <a:ext cx="2956701" cy="690551"/>
            <a:chOff x="0" y="0"/>
            <a:chExt cx="1740064" cy="406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40064" cy="406400"/>
            </a:xfrm>
            <a:custGeom>
              <a:avLst/>
              <a:gdLst/>
              <a:ahLst/>
              <a:cxnLst/>
              <a:rect r="r" b="b" t="t" l="l"/>
              <a:pathLst>
                <a:path h="406400" w="1740064">
                  <a:moveTo>
                    <a:pt x="1536864" y="0"/>
                  </a:moveTo>
                  <a:cubicBezTo>
                    <a:pt x="1649088" y="0"/>
                    <a:pt x="1740064" y="90976"/>
                    <a:pt x="1740064" y="203200"/>
                  </a:cubicBezTo>
                  <a:cubicBezTo>
                    <a:pt x="1740064" y="315424"/>
                    <a:pt x="1649088" y="406400"/>
                    <a:pt x="153686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ED6E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740064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31358" y="5330510"/>
            <a:ext cx="1921579" cy="690551"/>
            <a:chOff x="0" y="0"/>
            <a:chExt cx="1130878" cy="40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0878" cy="406400"/>
            </a:xfrm>
            <a:custGeom>
              <a:avLst/>
              <a:gdLst/>
              <a:ahLst/>
              <a:cxnLst/>
              <a:rect r="r" b="b" t="t" l="l"/>
              <a:pathLst>
                <a:path h="406400" w="1130878">
                  <a:moveTo>
                    <a:pt x="927678" y="0"/>
                  </a:moveTo>
                  <a:cubicBezTo>
                    <a:pt x="1039903" y="0"/>
                    <a:pt x="1130878" y="90976"/>
                    <a:pt x="1130878" y="203200"/>
                  </a:cubicBezTo>
                  <a:cubicBezTo>
                    <a:pt x="1130878" y="315424"/>
                    <a:pt x="1039903" y="406400"/>
                    <a:pt x="92767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ED6E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130878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703499" y="5330510"/>
            <a:ext cx="2425294" cy="690551"/>
            <a:chOff x="0" y="0"/>
            <a:chExt cx="1427323" cy="406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27323" cy="406400"/>
            </a:xfrm>
            <a:custGeom>
              <a:avLst/>
              <a:gdLst/>
              <a:ahLst/>
              <a:cxnLst/>
              <a:rect r="r" b="b" t="t" l="l"/>
              <a:pathLst>
                <a:path h="406400" w="1427323">
                  <a:moveTo>
                    <a:pt x="1224123" y="0"/>
                  </a:moveTo>
                  <a:cubicBezTo>
                    <a:pt x="1336347" y="0"/>
                    <a:pt x="1427323" y="90976"/>
                    <a:pt x="1427323" y="203200"/>
                  </a:cubicBezTo>
                  <a:cubicBezTo>
                    <a:pt x="1427323" y="315424"/>
                    <a:pt x="1336347" y="406400"/>
                    <a:pt x="122412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ED6E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427323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-17294857" y="5965231"/>
            <a:ext cx="18831232" cy="18831232"/>
          </a:xfrm>
          <a:custGeom>
            <a:avLst/>
            <a:gdLst/>
            <a:ahLst/>
            <a:cxnLst/>
            <a:rect r="r" b="b" t="t" l="l"/>
            <a:pathLst>
              <a:path h="18831232" w="18831232">
                <a:moveTo>
                  <a:pt x="0" y="0"/>
                </a:moveTo>
                <a:lnTo>
                  <a:pt x="18831232" y="0"/>
                </a:lnTo>
                <a:lnTo>
                  <a:pt x="18831232" y="18831232"/>
                </a:lnTo>
                <a:lnTo>
                  <a:pt x="0" y="188312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165093" y="8389357"/>
            <a:ext cx="5957813" cy="848988"/>
          </a:xfrm>
          <a:custGeom>
            <a:avLst/>
            <a:gdLst/>
            <a:ahLst/>
            <a:cxnLst/>
            <a:rect r="r" b="b" t="t" l="l"/>
            <a:pathLst>
              <a:path h="848988" w="5957813">
                <a:moveTo>
                  <a:pt x="0" y="0"/>
                </a:moveTo>
                <a:lnTo>
                  <a:pt x="5957814" y="0"/>
                </a:lnTo>
                <a:lnTo>
                  <a:pt x="5957814" y="848989"/>
                </a:lnTo>
                <a:lnTo>
                  <a:pt x="0" y="84898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63000"/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494178" y="8624977"/>
            <a:ext cx="372209" cy="372209"/>
          </a:xfrm>
          <a:custGeom>
            <a:avLst/>
            <a:gdLst/>
            <a:ahLst/>
            <a:cxnLst/>
            <a:rect r="r" b="b" t="t" l="l"/>
            <a:pathLst>
              <a:path h="372209" w="372209">
                <a:moveTo>
                  <a:pt x="0" y="0"/>
                </a:moveTo>
                <a:lnTo>
                  <a:pt x="372210" y="0"/>
                </a:lnTo>
                <a:lnTo>
                  <a:pt x="372210" y="372209"/>
                </a:lnTo>
                <a:lnTo>
                  <a:pt x="0" y="37220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159206" y="5594230"/>
            <a:ext cx="163111" cy="163111"/>
          </a:xfrm>
          <a:custGeom>
            <a:avLst/>
            <a:gdLst/>
            <a:ahLst/>
            <a:cxnLst/>
            <a:rect r="r" b="b" t="t" l="l"/>
            <a:pathLst>
              <a:path h="163111" w="163111">
                <a:moveTo>
                  <a:pt x="0" y="0"/>
                </a:moveTo>
                <a:lnTo>
                  <a:pt x="163112" y="0"/>
                </a:lnTo>
                <a:lnTo>
                  <a:pt x="163112" y="163112"/>
                </a:lnTo>
                <a:lnTo>
                  <a:pt x="0" y="16311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2939966" y="5106645"/>
            <a:ext cx="163111" cy="163111"/>
          </a:xfrm>
          <a:custGeom>
            <a:avLst/>
            <a:gdLst/>
            <a:ahLst/>
            <a:cxnLst/>
            <a:rect r="r" b="b" t="t" l="l"/>
            <a:pathLst>
              <a:path h="163111" w="163111">
                <a:moveTo>
                  <a:pt x="0" y="0"/>
                </a:moveTo>
                <a:lnTo>
                  <a:pt x="163112" y="0"/>
                </a:lnTo>
                <a:lnTo>
                  <a:pt x="163112" y="163111"/>
                </a:lnTo>
                <a:lnTo>
                  <a:pt x="0" y="16311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28700" y="8498541"/>
            <a:ext cx="646167" cy="636769"/>
          </a:xfrm>
          <a:custGeom>
            <a:avLst/>
            <a:gdLst/>
            <a:ahLst/>
            <a:cxnLst/>
            <a:rect r="r" b="b" t="t" l="l"/>
            <a:pathLst>
              <a:path h="636769" w="646167">
                <a:moveTo>
                  <a:pt x="0" y="0"/>
                </a:moveTo>
                <a:lnTo>
                  <a:pt x="646167" y="0"/>
                </a:lnTo>
                <a:lnTo>
                  <a:pt x="646167" y="636769"/>
                </a:lnTo>
                <a:lnTo>
                  <a:pt x="0" y="63676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3485736" y="1125423"/>
            <a:ext cx="11316529" cy="1836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42"/>
              </a:lnSpc>
            </a:pPr>
            <a:r>
              <a:rPr lang="en-US" b="true" sz="13705" spc="-740">
                <a:gradFill>
                  <a:gsLst>
                    <a:gs pos="0">
                      <a:srgbClr val="AED6E4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 Bold"/>
                <a:ea typeface="TT Firs Neue Bold"/>
                <a:cs typeface="TT Firs Neue Bold"/>
                <a:sym typeface="TT Firs Neue Bold"/>
              </a:rPr>
              <a:t>OPSNEXUS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80601" y="8480098"/>
            <a:ext cx="1795825" cy="652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9"/>
              </a:lnSpc>
            </a:pPr>
            <a:r>
              <a:rPr lang="en-US" b="true" sz="2085" spc="-112">
                <a:gradFill>
                  <a:gsLst>
                    <a:gs pos="0">
                      <a:srgbClr val="C6C6C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 Bold"/>
                <a:ea typeface="TT Firs Neue Bold"/>
                <a:cs typeface="TT Firs Neue Bold"/>
                <a:sym typeface="TT Firs Neue Bold"/>
              </a:rPr>
              <a:t>EXATHON  2026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359967" y="8482868"/>
            <a:ext cx="3287186" cy="652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89"/>
              </a:lnSpc>
            </a:pPr>
            <a:r>
              <a:rPr lang="en-US" b="true" sz="2085" spc="-112">
                <a:gradFill>
                  <a:gsLst>
                    <a:gs pos="0">
                      <a:srgbClr val="C6C6C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 Bold"/>
                <a:ea typeface="TT Firs Neue Bold"/>
                <a:cs typeface="TT Firs Neue Bold"/>
                <a:sym typeface="TT Firs Neue Bold"/>
              </a:rPr>
              <a:t>TRACK - 4 </a:t>
            </a:r>
          </a:p>
          <a:p>
            <a:pPr algn="r">
              <a:lnSpc>
                <a:spcPts val="2689"/>
              </a:lnSpc>
            </a:pPr>
            <a:r>
              <a:rPr lang="en-US" b="true" sz="2085" spc="-112">
                <a:gradFill>
                  <a:gsLst>
                    <a:gs pos="0">
                      <a:srgbClr val="C6C6C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 Bold"/>
                <a:ea typeface="TT Firs Neue Bold"/>
                <a:cs typeface="TT Firs Neue Bold"/>
                <a:sym typeface="TT Firs Neue Bold"/>
              </a:rPr>
              <a:t>WORK BEHIND THE WORK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574653" y="8732485"/>
            <a:ext cx="1035436" cy="176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6"/>
              </a:lnSpc>
            </a:pPr>
            <a:r>
              <a:rPr lang="en-US" sz="1303" spc="-70">
                <a:gradFill>
                  <a:gsLst>
                    <a:gs pos="0">
                      <a:srgbClr val="C6C6C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Presented By: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688053" y="8653169"/>
            <a:ext cx="2025294" cy="35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3"/>
              </a:lnSpc>
            </a:pPr>
            <a:r>
              <a:rPr lang="en-US" sz="2616" spc="-141">
                <a:gradFill>
                  <a:gsLst>
                    <a:gs pos="0">
                      <a:srgbClr val="C6C6C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Team Nexus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708546" y="5545718"/>
            <a:ext cx="2591907" cy="32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8"/>
              </a:lnSpc>
            </a:pPr>
            <a:r>
              <a:rPr lang="en-US" b="true" sz="2444" spc="-132">
                <a:solidFill>
                  <a:srgbClr val="030207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VISIBLE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820028" y="5545718"/>
            <a:ext cx="1544238" cy="32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8"/>
              </a:lnSpc>
            </a:pPr>
            <a:r>
              <a:rPr lang="en-US" b="true" sz="2444" spc="-132">
                <a:solidFill>
                  <a:srgbClr val="030207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TRUSTED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901580" y="5537522"/>
            <a:ext cx="2064102" cy="32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8"/>
              </a:lnSpc>
            </a:pPr>
            <a:r>
              <a:rPr lang="en-US" b="true" sz="2444" spc="-132">
                <a:solidFill>
                  <a:srgbClr val="030207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ACTIONABLE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999623" y="3403460"/>
            <a:ext cx="13133617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99999D"/>
                </a:solidFill>
                <a:latin typeface="Canva Sans"/>
                <a:ea typeface="Canva Sans"/>
                <a:cs typeface="Canva Sans"/>
                <a:sym typeface="Canva Sans"/>
              </a:rPr>
              <a:t>A unified operations intelligence layer for data pipelines, data trust, requests, and platform cost.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5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75495"/>
            <a:chOff x="0" y="0"/>
            <a:chExt cx="24402453" cy="1006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00711"/>
            </a:xfrm>
            <a:custGeom>
              <a:avLst/>
              <a:gdLst/>
              <a:ahLst/>
              <a:cxnLst/>
              <a:rect r="r" b="b" t="t" l="l"/>
              <a:pathLst>
                <a:path h="100711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00E087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8324" y="762000"/>
            <a:ext cx="13690149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1"/>
              </a:lnSpc>
            </a:pPr>
            <a:r>
              <a:rPr lang="en-US" sz="2001" b="true">
                <a:solidFill>
                  <a:srgbClr val="00E087"/>
                </a:solidFill>
                <a:latin typeface="Aptos Bold"/>
                <a:ea typeface="Aptos Bold"/>
                <a:cs typeface="Aptos Bold"/>
                <a:sym typeface="Aptos Bold"/>
              </a:rPr>
              <a:t>01 / PROBLEM STATEMENT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79566" y="1303287"/>
            <a:ext cx="16572757" cy="677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F2F9F7"/>
                </a:solidFill>
                <a:latin typeface="Aptos Bold"/>
                <a:ea typeface="Aptos Bold"/>
                <a:cs typeface="Aptos Bold"/>
                <a:sym typeface="Aptos Bold"/>
              </a:rPr>
              <a:t>Operational work is invisible until something breaks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337868" y="2132905"/>
            <a:ext cx="16435492" cy="457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3BEBE"/>
                </a:solidFill>
                <a:latin typeface="Aptos"/>
                <a:ea typeface="Aptos"/>
                <a:cs typeface="Aptos"/>
                <a:sym typeface="Aptos"/>
              </a:rPr>
              <a:t>Internal teams lose time connecting signals scattered across pipelines, quality checks, requests, and spend.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764895" y="9727282"/>
            <a:ext cx="581130" cy="220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48666C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88324" y="3109446"/>
            <a:ext cx="7851686" cy="1949196"/>
            <a:chOff x="0" y="0"/>
            <a:chExt cx="10468915" cy="25989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68991" cy="2598928"/>
            </a:xfrm>
            <a:custGeom>
              <a:avLst/>
              <a:gdLst/>
              <a:ahLst/>
              <a:cxnLst/>
              <a:rect r="r" b="b" t="t" l="l"/>
              <a:pathLst>
                <a:path h="2598928" w="10468991">
                  <a:moveTo>
                    <a:pt x="0" y="311912"/>
                  </a:moveTo>
                  <a:cubicBezTo>
                    <a:pt x="0" y="139573"/>
                    <a:pt x="139573" y="0"/>
                    <a:pt x="311912" y="0"/>
                  </a:cubicBezTo>
                  <a:lnTo>
                    <a:pt x="10157079" y="0"/>
                  </a:lnTo>
                  <a:cubicBezTo>
                    <a:pt x="10329291" y="0"/>
                    <a:pt x="10468991" y="139573"/>
                    <a:pt x="10468991" y="311912"/>
                  </a:cubicBezTo>
                  <a:lnTo>
                    <a:pt x="10468991" y="2287016"/>
                  </a:lnTo>
                  <a:cubicBezTo>
                    <a:pt x="10468991" y="2459228"/>
                    <a:pt x="10329418" y="2598928"/>
                    <a:pt x="10157079" y="2598928"/>
                  </a:cubicBezTo>
                  <a:lnTo>
                    <a:pt x="311912" y="2598928"/>
                  </a:lnTo>
                  <a:cubicBezTo>
                    <a:pt x="139573" y="2598928"/>
                    <a:pt x="0" y="2459355"/>
                    <a:pt x="0" y="2287016"/>
                  </a:cubicBezTo>
                  <a:close/>
                </a:path>
              </a:pathLst>
            </a:custGeom>
            <a:solidFill>
              <a:srgbClr val="0E2733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308602" y="3344761"/>
            <a:ext cx="622306" cy="292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FF6378"/>
                </a:solidFill>
                <a:latin typeface="Aptos Bold"/>
                <a:ea typeface="Aptos Bold"/>
                <a:cs typeface="Aptos Bold"/>
                <a:sym typeface="Aptos Bold"/>
              </a:rPr>
              <a:t>01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63563" y="3331035"/>
            <a:ext cx="6277718" cy="320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2F9F7"/>
                </a:solidFill>
                <a:latin typeface="Aptos Bold"/>
                <a:ea typeface="Aptos Bold"/>
                <a:cs typeface="Aptos Bold"/>
                <a:sym typeface="Aptos Bold"/>
              </a:rPr>
              <a:t>PIPELINES FAIL SILENTLY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09626" y="3967024"/>
            <a:ext cx="6209081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1"/>
              </a:lnSpc>
            </a:pPr>
            <a:r>
              <a:rPr lang="en-US" sz="1851">
                <a:solidFill>
                  <a:srgbClr val="A3BEBE"/>
                </a:solidFill>
                <a:latin typeface="Aptos"/>
                <a:ea typeface="Aptos"/>
                <a:cs typeface="Aptos"/>
                <a:sym typeface="Aptos"/>
              </a:rPr>
              <a:t>F</a:t>
            </a:r>
            <a:r>
              <a:rPr lang="en-US" sz="1851">
                <a:solidFill>
                  <a:srgbClr val="A3BEBE"/>
                </a:solidFill>
                <a:latin typeface="Aptos"/>
                <a:ea typeface="Aptos"/>
                <a:cs typeface="Aptos"/>
                <a:sym typeface="Aptos"/>
              </a:rPr>
              <a:t>ailures and delays can go unnoticed until downstream workflows are affected.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361627" y="3038170"/>
            <a:ext cx="7851686" cy="1949196"/>
            <a:chOff x="0" y="0"/>
            <a:chExt cx="10468915" cy="259892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468991" cy="2598928"/>
            </a:xfrm>
            <a:custGeom>
              <a:avLst/>
              <a:gdLst/>
              <a:ahLst/>
              <a:cxnLst/>
              <a:rect r="r" b="b" t="t" l="l"/>
              <a:pathLst>
                <a:path h="2598928" w="10468991">
                  <a:moveTo>
                    <a:pt x="0" y="311912"/>
                  </a:moveTo>
                  <a:cubicBezTo>
                    <a:pt x="0" y="139573"/>
                    <a:pt x="139573" y="0"/>
                    <a:pt x="311912" y="0"/>
                  </a:cubicBezTo>
                  <a:lnTo>
                    <a:pt x="10157079" y="0"/>
                  </a:lnTo>
                  <a:cubicBezTo>
                    <a:pt x="10329291" y="0"/>
                    <a:pt x="10468991" y="139573"/>
                    <a:pt x="10468991" y="311912"/>
                  </a:cubicBezTo>
                  <a:lnTo>
                    <a:pt x="10468991" y="2287016"/>
                  </a:lnTo>
                  <a:cubicBezTo>
                    <a:pt x="10468991" y="2459228"/>
                    <a:pt x="10329418" y="2598928"/>
                    <a:pt x="10157079" y="2598928"/>
                  </a:cubicBezTo>
                  <a:lnTo>
                    <a:pt x="311912" y="2598928"/>
                  </a:lnTo>
                  <a:cubicBezTo>
                    <a:pt x="139573" y="2598928"/>
                    <a:pt x="0" y="2459355"/>
                    <a:pt x="0" y="2287016"/>
                  </a:cubicBezTo>
                  <a:close/>
                </a:path>
              </a:pathLst>
            </a:custGeom>
            <a:solidFill>
              <a:srgbClr val="0E2733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709356" y="3254912"/>
            <a:ext cx="622306" cy="292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FFBE52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532955" y="3254912"/>
            <a:ext cx="627771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2F9F7"/>
                </a:solidFill>
                <a:latin typeface="Aptos Bold"/>
                <a:ea typeface="Aptos Bold"/>
                <a:cs typeface="Aptos Bold"/>
                <a:sym typeface="Aptos Bold"/>
              </a:rPr>
              <a:t>DATA TRUST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331663" y="3834889"/>
            <a:ext cx="6209081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1"/>
              </a:lnSpc>
            </a:pPr>
            <a:r>
              <a:rPr lang="en-US" sz="1851">
                <a:solidFill>
                  <a:srgbClr val="A3BEBE"/>
                </a:solidFill>
                <a:latin typeface="Aptos"/>
                <a:ea typeface="Aptos"/>
                <a:cs typeface="Aptos"/>
                <a:sym typeface="Aptos"/>
              </a:rPr>
              <a:t>Users see metrics, but cannot quickly verify freshness, rejected rows, or quality status.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88324" y="5852827"/>
            <a:ext cx="7851686" cy="1949196"/>
            <a:chOff x="0" y="0"/>
            <a:chExt cx="10468915" cy="259892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468991" cy="2598928"/>
            </a:xfrm>
            <a:custGeom>
              <a:avLst/>
              <a:gdLst/>
              <a:ahLst/>
              <a:cxnLst/>
              <a:rect r="r" b="b" t="t" l="l"/>
              <a:pathLst>
                <a:path h="2598928" w="10468991">
                  <a:moveTo>
                    <a:pt x="0" y="311912"/>
                  </a:moveTo>
                  <a:cubicBezTo>
                    <a:pt x="0" y="139573"/>
                    <a:pt x="139573" y="0"/>
                    <a:pt x="311912" y="0"/>
                  </a:cubicBezTo>
                  <a:lnTo>
                    <a:pt x="10157079" y="0"/>
                  </a:lnTo>
                  <a:cubicBezTo>
                    <a:pt x="10329291" y="0"/>
                    <a:pt x="10468991" y="139573"/>
                    <a:pt x="10468991" y="311912"/>
                  </a:cubicBezTo>
                  <a:lnTo>
                    <a:pt x="10468991" y="2287016"/>
                  </a:lnTo>
                  <a:cubicBezTo>
                    <a:pt x="10468991" y="2459228"/>
                    <a:pt x="10329418" y="2598928"/>
                    <a:pt x="10157079" y="2598928"/>
                  </a:cubicBezTo>
                  <a:lnTo>
                    <a:pt x="311912" y="2598928"/>
                  </a:lnTo>
                  <a:cubicBezTo>
                    <a:pt x="139573" y="2598928"/>
                    <a:pt x="0" y="2459355"/>
                    <a:pt x="0" y="2287016"/>
                  </a:cubicBezTo>
                  <a:close/>
                </a:path>
              </a:pathLst>
            </a:custGeom>
            <a:solidFill>
              <a:srgbClr val="0E2733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41231" y="6145216"/>
            <a:ext cx="622306" cy="292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5BBEFF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063563" y="6131490"/>
            <a:ext cx="6277718" cy="320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2F9F7"/>
                </a:solidFill>
                <a:latin typeface="Aptos Bold"/>
                <a:ea typeface="Aptos Bold"/>
                <a:cs typeface="Aptos Bold"/>
                <a:sym typeface="Aptos Bold"/>
              </a:rPr>
              <a:t>DATA REQUESTS STALL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63538" y="6699456"/>
            <a:ext cx="6209081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1"/>
              </a:lnSpc>
            </a:pPr>
            <a:r>
              <a:rPr lang="en-US" sz="1851">
                <a:solidFill>
                  <a:srgbClr val="A3BEBE"/>
                </a:solidFill>
                <a:latin typeface="Aptos"/>
                <a:ea typeface="Aptos"/>
                <a:cs typeface="Aptos"/>
                <a:sym typeface="Aptos"/>
              </a:rPr>
              <a:t>Finding the right table, understanding its schema, and routing requests depend on manual help.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361627" y="5852827"/>
            <a:ext cx="7851686" cy="1949196"/>
            <a:chOff x="0" y="0"/>
            <a:chExt cx="10468915" cy="259892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468991" cy="2598928"/>
            </a:xfrm>
            <a:custGeom>
              <a:avLst/>
              <a:gdLst/>
              <a:ahLst/>
              <a:cxnLst/>
              <a:rect r="r" b="b" t="t" l="l"/>
              <a:pathLst>
                <a:path h="2598928" w="10468991">
                  <a:moveTo>
                    <a:pt x="0" y="311912"/>
                  </a:moveTo>
                  <a:cubicBezTo>
                    <a:pt x="0" y="139573"/>
                    <a:pt x="139573" y="0"/>
                    <a:pt x="311912" y="0"/>
                  </a:cubicBezTo>
                  <a:lnTo>
                    <a:pt x="10157079" y="0"/>
                  </a:lnTo>
                  <a:cubicBezTo>
                    <a:pt x="10329291" y="0"/>
                    <a:pt x="10468991" y="139573"/>
                    <a:pt x="10468991" y="311912"/>
                  </a:cubicBezTo>
                  <a:lnTo>
                    <a:pt x="10468991" y="2287016"/>
                  </a:lnTo>
                  <a:cubicBezTo>
                    <a:pt x="10468991" y="2459228"/>
                    <a:pt x="10329418" y="2598928"/>
                    <a:pt x="10157079" y="2598928"/>
                  </a:cubicBezTo>
                  <a:lnTo>
                    <a:pt x="311912" y="2598928"/>
                  </a:lnTo>
                  <a:cubicBezTo>
                    <a:pt x="139573" y="2598928"/>
                    <a:pt x="0" y="2459355"/>
                    <a:pt x="0" y="2287016"/>
                  </a:cubicBezTo>
                  <a:close/>
                </a:path>
              </a:pathLst>
            </a:custGeom>
            <a:solidFill>
              <a:srgbClr val="0E2733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709356" y="6158941"/>
            <a:ext cx="622306" cy="292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BA8CFF"/>
                </a:solidFill>
                <a:latin typeface="Aptos Bold"/>
                <a:ea typeface="Aptos Bold"/>
                <a:cs typeface="Aptos Bold"/>
                <a:sym typeface="Aptos Bold"/>
              </a:rPr>
              <a:t>04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532955" y="6158941"/>
            <a:ext cx="6277718" cy="320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2F9F7"/>
                </a:solidFill>
                <a:latin typeface="Aptos Bold"/>
                <a:ea typeface="Aptos Bold"/>
                <a:cs typeface="Aptos Bold"/>
                <a:sym typeface="Aptos Bold"/>
              </a:rPr>
              <a:t>COST OUTRUNS USAGE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331663" y="6699456"/>
            <a:ext cx="6209081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1"/>
              </a:lnSpc>
            </a:pPr>
            <a:r>
              <a:rPr lang="en-US" sz="1851">
                <a:solidFill>
                  <a:srgbClr val="A3BEBE"/>
                </a:solidFill>
                <a:latin typeface="Aptos"/>
                <a:ea typeface="Aptos"/>
                <a:cs typeface="Aptos"/>
                <a:sym typeface="Aptos"/>
              </a:rPr>
              <a:t>S</a:t>
            </a:r>
            <a:r>
              <a:rPr lang="en-US" sz="1851">
                <a:solidFill>
                  <a:srgbClr val="A3BEBE"/>
                </a:solidFill>
                <a:latin typeface="Aptos"/>
                <a:ea typeface="Aptos"/>
                <a:cs typeface="Aptos"/>
                <a:sym typeface="Aptos"/>
              </a:rPr>
              <a:t>pending is difficult to interpret without operational usage context.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88324" y="8352711"/>
            <a:ext cx="16224990" cy="960872"/>
            <a:chOff x="0" y="0"/>
            <a:chExt cx="21633320" cy="128116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633433" cy="1281176"/>
            </a:xfrm>
            <a:custGeom>
              <a:avLst/>
              <a:gdLst/>
              <a:ahLst/>
              <a:cxnLst/>
              <a:rect r="r" b="b" t="t" l="l"/>
              <a:pathLst>
                <a:path h="1281176" w="21633433">
                  <a:moveTo>
                    <a:pt x="0" y="153797"/>
                  </a:moveTo>
                  <a:cubicBezTo>
                    <a:pt x="0" y="68834"/>
                    <a:pt x="68834" y="0"/>
                    <a:pt x="153797" y="0"/>
                  </a:cubicBezTo>
                  <a:lnTo>
                    <a:pt x="21479636" y="0"/>
                  </a:lnTo>
                  <a:cubicBezTo>
                    <a:pt x="21564600" y="0"/>
                    <a:pt x="21633433" y="68834"/>
                    <a:pt x="21633433" y="153797"/>
                  </a:cubicBezTo>
                  <a:lnTo>
                    <a:pt x="21633433" y="1127379"/>
                  </a:lnTo>
                  <a:cubicBezTo>
                    <a:pt x="21633433" y="1212342"/>
                    <a:pt x="21564600" y="1281176"/>
                    <a:pt x="21479636" y="1281176"/>
                  </a:cubicBezTo>
                  <a:lnTo>
                    <a:pt x="153797" y="1281176"/>
                  </a:lnTo>
                  <a:cubicBezTo>
                    <a:pt x="68834" y="1281176"/>
                    <a:pt x="0" y="1212342"/>
                    <a:pt x="0" y="1127379"/>
                  </a:cubicBezTo>
                  <a:close/>
                </a:path>
              </a:pathLst>
            </a:custGeom>
            <a:solidFill>
              <a:srgbClr val="13353F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2662985" y="8683190"/>
            <a:ext cx="15337355" cy="30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00E087"/>
                </a:solidFill>
                <a:latin typeface="Aptos Bold"/>
                <a:ea typeface="Aptos Bold"/>
                <a:cs typeface="Aptos Bold"/>
                <a:sym typeface="Aptos Bold"/>
              </a:rPr>
              <a:t>THE ROOT CAUSE   Fragmented operational signals → delayed diagnosis → low confidence → avoidable manual work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5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75495"/>
            <a:chOff x="0" y="0"/>
            <a:chExt cx="24402453" cy="1006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00711"/>
            </a:xfrm>
            <a:custGeom>
              <a:avLst/>
              <a:gdLst/>
              <a:ahLst/>
              <a:cxnLst/>
              <a:rect r="r" b="b" t="t" l="l"/>
              <a:pathLst>
                <a:path h="100711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00E087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69347" y="815397"/>
            <a:ext cx="13690149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1"/>
              </a:lnSpc>
            </a:pPr>
            <a:r>
              <a:rPr lang="en-US" sz="2001" b="true">
                <a:solidFill>
                  <a:srgbClr val="00E087"/>
                </a:solidFill>
                <a:latin typeface="Aptos Bold"/>
                <a:ea typeface="Aptos Bold"/>
                <a:cs typeface="Aptos Bold"/>
                <a:sym typeface="Aptos Bold"/>
              </a:rPr>
              <a:t>02 / SOLUTION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912118" y="1377372"/>
            <a:ext cx="16572757" cy="677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F2F9F7"/>
                </a:solidFill>
                <a:latin typeface="Aptos Bold"/>
                <a:ea typeface="Aptos Bold"/>
                <a:cs typeface="Aptos Bold"/>
                <a:sym typeface="Aptos Bold"/>
              </a:rPr>
              <a:t>One console. Four operational modules.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980750" y="2292715"/>
            <a:ext cx="1643549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1"/>
              </a:lnSpc>
            </a:pPr>
            <a:r>
              <a:rPr lang="en-US" sz="1751">
                <a:solidFill>
                  <a:srgbClr val="A3BEBE"/>
                </a:solidFill>
                <a:latin typeface="Aptos"/>
                <a:ea typeface="Aptos"/>
                <a:cs typeface="Aptos"/>
                <a:sym typeface="Aptos"/>
              </a:rPr>
              <a:t>OpsNexus turns scattered operational details into role-specific answers and next actions.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162669" y="9727282"/>
            <a:ext cx="183356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48666C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88324" y="3483340"/>
            <a:ext cx="7851686" cy="1757020"/>
            <a:chOff x="0" y="0"/>
            <a:chExt cx="10468915" cy="234269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68991" cy="2342769"/>
            </a:xfrm>
            <a:custGeom>
              <a:avLst/>
              <a:gdLst/>
              <a:ahLst/>
              <a:cxnLst/>
              <a:rect r="r" b="b" t="t" l="l"/>
              <a:pathLst>
                <a:path h="2342769" w="10468991">
                  <a:moveTo>
                    <a:pt x="0" y="281178"/>
                  </a:moveTo>
                  <a:cubicBezTo>
                    <a:pt x="0" y="125857"/>
                    <a:pt x="125857" y="0"/>
                    <a:pt x="281178" y="0"/>
                  </a:cubicBezTo>
                  <a:lnTo>
                    <a:pt x="10187813" y="0"/>
                  </a:lnTo>
                  <a:cubicBezTo>
                    <a:pt x="10343134" y="0"/>
                    <a:pt x="10468991" y="125857"/>
                    <a:pt x="10468991" y="281178"/>
                  </a:cubicBezTo>
                  <a:lnTo>
                    <a:pt x="10468991" y="2061591"/>
                  </a:lnTo>
                  <a:cubicBezTo>
                    <a:pt x="10468991" y="2216912"/>
                    <a:pt x="10343134" y="2342769"/>
                    <a:pt x="10187813" y="2342769"/>
                  </a:cubicBezTo>
                  <a:lnTo>
                    <a:pt x="281178" y="2342769"/>
                  </a:lnTo>
                  <a:cubicBezTo>
                    <a:pt x="125857" y="2342642"/>
                    <a:pt x="0" y="2216785"/>
                    <a:pt x="0" y="2061591"/>
                  </a:cubicBezTo>
                  <a:close/>
                </a:path>
              </a:pathLst>
            </a:custGeom>
            <a:solidFill>
              <a:srgbClr val="0E2733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322327" y="3748707"/>
            <a:ext cx="5179581" cy="30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FF6378"/>
                </a:solidFill>
                <a:latin typeface="Aptos Bold"/>
                <a:ea typeface="Aptos Bold"/>
                <a:cs typeface="Aptos Bold"/>
                <a:sym typeface="Aptos Bold"/>
              </a:rPr>
              <a:t>PIPELINE WATCH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22327" y="4270324"/>
            <a:ext cx="627771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1"/>
              </a:lnSpc>
            </a:pPr>
            <a:r>
              <a:rPr lang="en-US" sz="1776">
                <a:solidFill>
                  <a:srgbClr val="A3BEBE"/>
                </a:solidFill>
                <a:latin typeface="Aptos"/>
                <a:ea typeface="Aptos"/>
                <a:cs typeface="Aptos"/>
                <a:sym typeface="Aptos"/>
              </a:rPr>
              <a:t>Mo</a:t>
            </a:r>
            <a:r>
              <a:rPr lang="en-US" sz="1776">
                <a:solidFill>
                  <a:srgbClr val="A3BEBE"/>
                </a:solidFill>
                <a:latin typeface="Aptos"/>
                <a:ea typeface="Aptos"/>
                <a:cs typeface="Aptos"/>
                <a:sym typeface="Aptos"/>
              </a:rPr>
              <a:t>nitor runs, detect failures, and inspect execution details.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292130" y="3622705"/>
            <a:ext cx="1201474" cy="432768"/>
            <a:chOff x="0" y="0"/>
            <a:chExt cx="1601965" cy="57702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01978" cy="576961"/>
            </a:xfrm>
            <a:custGeom>
              <a:avLst/>
              <a:gdLst/>
              <a:ahLst/>
              <a:cxnLst/>
              <a:rect r="r" b="b" t="t" l="l"/>
              <a:pathLst>
                <a:path h="576961" w="1601978">
                  <a:moveTo>
                    <a:pt x="0" y="69215"/>
                  </a:moveTo>
                  <a:cubicBezTo>
                    <a:pt x="0" y="30988"/>
                    <a:pt x="30988" y="0"/>
                    <a:pt x="69215" y="0"/>
                  </a:cubicBezTo>
                  <a:lnTo>
                    <a:pt x="1532763" y="0"/>
                  </a:lnTo>
                  <a:cubicBezTo>
                    <a:pt x="1570990" y="0"/>
                    <a:pt x="1601978" y="30988"/>
                    <a:pt x="1601978" y="69215"/>
                  </a:cubicBezTo>
                  <a:lnTo>
                    <a:pt x="1601978" y="507746"/>
                  </a:lnTo>
                  <a:cubicBezTo>
                    <a:pt x="1601978" y="545973"/>
                    <a:pt x="1570990" y="576961"/>
                    <a:pt x="1532763" y="576961"/>
                  </a:cubicBezTo>
                  <a:lnTo>
                    <a:pt x="69215" y="576961"/>
                  </a:lnTo>
                  <a:cubicBezTo>
                    <a:pt x="30988" y="577088"/>
                    <a:pt x="0" y="545973"/>
                    <a:pt x="0" y="507746"/>
                  </a:cubicBezTo>
                  <a:close/>
                </a:path>
              </a:pathLst>
            </a:custGeom>
            <a:solidFill>
              <a:srgbClr val="13353F"/>
            </a:solidFill>
            <a:ln w="20971" cap="sq">
              <a:solidFill>
                <a:srgbClr val="FF6378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7389543" y="3761294"/>
            <a:ext cx="1006659" cy="128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1"/>
              </a:lnSpc>
            </a:pPr>
            <a:r>
              <a:rPr lang="en-US" sz="1125" b="true">
                <a:solidFill>
                  <a:srgbClr val="FF6378"/>
                </a:solidFill>
                <a:latin typeface="Aptos Bold"/>
                <a:ea typeface="Aptos Bold"/>
                <a:cs typeface="Aptos Bold"/>
                <a:sym typeface="Aptos Bold"/>
              </a:rPr>
              <a:t>DETECT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494339" y="3510877"/>
            <a:ext cx="7851686" cy="1757020"/>
            <a:chOff x="0" y="0"/>
            <a:chExt cx="10468915" cy="234269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468991" cy="2342769"/>
            </a:xfrm>
            <a:custGeom>
              <a:avLst/>
              <a:gdLst/>
              <a:ahLst/>
              <a:cxnLst/>
              <a:rect r="r" b="b" t="t" l="l"/>
              <a:pathLst>
                <a:path h="2342769" w="10468991">
                  <a:moveTo>
                    <a:pt x="0" y="281178"/>
                  </a:moveTo>
                  <a:cubicBezTo>
                    <a:pt x="0" y="125857"/>
                    <a:pt x="125857" y="0"/>
                    <a:pt x="281178" y="0"/>
                  </a:cubicBezTo>
                  <a:lnTo>
                    <a:pt x="10187813" y="0"/>
                  </a:lnTo>
                  <a:cubicBezTo>
                    <a:pt x="10343134" y="0"/>
                    <a:pt x="10468991" y="125857"/>
                    <a:pt x="10468991" y="281178"/>
                  </a:cubicBezTo>
                  <a:lnTo>
                    <a:pt x="10468991" y="2061591"/>
                  </a:lnTo>
                  <a:cubicBezTo>
                    <a:pt x="10468991" y="2216912"/>
                    <a:pt x="10343134" y="2342769"/>
                    <a:pt x="10187813" y="2342769"/>
                  </a:cubicBezTo>
                  <a:lnTo>
                    <a:pt x="281178" y="2342769"/>
                  </a:lnTo>
                  <a:cubicBezTo>
                    <a:pt x="125857" y="2342642"/>
                    <a:pt x="0" y="2216785"/>
                    <a:pt x="0" y="2061591"/>
                  </a:cubicBezTo>
                  <a:close/>
                </a:path>
              </a:pathLst>
            </a:custGeom>
            <a:solidFill>
              <a:srgbClr val="0E2733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828343" y="3776243"/>
            <a:ext cx="5179581" cy="30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00E087"/>
                </a:solidFill>
                <a:latin typeface="Aptos Bold"/>
                <a:ea typeface="Aptos Bold"/>
                <a:cs typeface="Aptos Bold"/>
                <a:sym typeface="Aptos Bold"/>
              </a:rPr>
              <a:t>DATA TRUST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828343" y="4297861"/>
            <a:ext cx="627771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1"/>
              </a:lnSpc>
            </a:pPr>
            <a:r>
              <a:rPr lang="en-US" sz="1776">
                <a:solidFill>
                  <a:srgbClr val="A3BEBE"/>
                </a:solidFill>
                <a:latin typeface="Aptos"/>
                <a:ea typeface="Aptos"/>
                <a:cs typeface="Aptos"/>
                <a:sym typeface="Aptos"/>
              </a:rPr>
              <a:t>E</a:t>
            </a:r>
            <a:r>
              <a:rPr lang="en-US" sz="1776">
                <a:solidFill>
                  <a:srgbClr val="A3BEBE"/>
                </a:solidFill>
                <a:latin typeface="Aptos"/>
                <a:ea typeface="Aptos"/>
                <a:cs typeface="Aptos"/>
                <a:sym typeface="Aptos"/>
              </a:rPr>
              <a:t>valuate quality results, freshness, and valid/invalid records.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5798146" y="3747468"/>
            <a:ext cx="1201474" cy="432768"/>
            <a:chOff x="0" y="0"/>
            <a:chExt cx="1601965" cy="57702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601978" cy="576961"/>
            </a:xfrm>
            <a:custGeom>
              <a:avLst/>
              <a:gdLst/>
              <a:ahLst/>
              <a:cxnLst/>
              <a:rect r="r" b="b" t="t" l="l"/>
              <a:pathLst>
                <a:path h="576961" w="1601978">
                  <a:moveTo>
                    <a:pt x="0" y="69215"/>
                  </a:moveTo>
                  <a:cubicBezTo>
                    <a:pt x="0" y="30988"/>
                    <a:pt x="30988" y="0"/>
                    <a:pt x="69215" y="0"/>
                  </a:cubicBezTo>
                  <a:lnTo>
                    <a:pt x="1532763" y="0"/>
                  </a:lnTo>
                  <a:cubicBezTo>
                    <a:pt x="1570990" y="0"/>
                    <a:pt x="1601978" y="30988"/>
                    <a:pt x="1601978" y="69215"/>
                  </a:cubicBezTo>
                  <a:lnTo>
                    <a:pt x="1601978" y="507746"/>
                  </a:lnTo>
                  <a:cubicBezTo>
                    <a:pt x="1601978" y="545973"/>
                    <a:pt x="1570990" y="576961"/>
                    <a:pt x="1532763" y="576961"/>
                  </a:cubicBezTo>
                  <a:lnTo>
                    <a:pt x="69215" y="576961"/>
                  </a:lnTo>
                  <a:cubicBezTo>
                    <a:pt x="30988" y="577088"/>
                    <a:pt x="0" y="545973"/>
                    <a:pt x="0" y="507746"/>
                  </a:cubicBezTo>
                  <a:close/>
                </a:path>
              </a:pathLst>
            </a:custGeom>
            <a:solidFill>
              <a:srgbClr val="13353F"/>
            </a:solidFill>
            <a:ln w="20971" cap="sq">
              <a:solidFill>
                <a:srgbClr val="00E087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5890805" y="3889443"/>
            <a:ext cx="1006659" cy="128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1"/>
              </a:lnSpc>
            </a:pPr>
            <a:r>
              <a:rPr lang="en-US" sz="1125" b="true">
                <a:solidFill>
                  <a:srgbClr val="00E087"/>
                </a:solidFill>
                <a:latin typeface="Aptos Bold"/>
                <a:ea typeface="Aptos Bold"/>
                <a:cs typeface="Aptos Bold"/>
                <a:sym typeface="Aptos Bold"/>
              </a:rPr>
              <a:t>VERIFY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88324" y="5812965"/>
            <a:ext cx="7851686" cy="1757020"/>
            <a:chOff x="0" y="0"/>
            <a:chExt cx="10468915" cy="234269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468991" cy="2342769"/>
            </a:xfrm>
            <a:custGeom>
              <a:avLst/>
              <a:gdLst/>
              <a:ahLst/>
              <a:cxnLst/>
              <a:rect r="r" b="b" t="t" l="l"/>
              <a:pathLst>
                <a:path h="2342769" w="10468991">
                  <a:moveTo>
                    <a:pt x="0" y="281178"/>
                  </a:moveTo>
                  <a:cubicBezTo>
                    <a:pt x="0" y="125857"/>
                    <a:pt x="125857" y="0"/>
                    <a:pt x="281178" y="0"/>
                  </a:cubicBezTo>
                  <a:lnTo>
                    <a:pt x="10187813" y="0"/>
                  </a:lnTo>
                  <a:cubicBezTo>
                    <a:pt x="10343134" y="0"/>
                    <a:pt x="10468991" y="125857"/>
                    <a:pt x="10468991" y="281178"/>
                  </a:cubicBezTo>
                  <a:lnTo>
                    <a:pt x="10468991" y="2061591"/>
                  </a:lnTo>
                  <a:cubicBezTo>
                    <a:pt x="10468991" y="2216912"/>
                    <a:pt x="10343134" y="2342769"/>
                    <a:pt x="10187813" y="2342769"/>
                  </a:cubicBezTo>
                  <a:lnTo>
                    <a:pt x="281178" y="2342769"/>
                  </a:lnTo>
                  <a:cubicBezTo>
                    <a:pt x="125857" y="2342642"/>
                    <a:pt x="0" y="2216785"/>
                    <a:pt x="0" y="2061591"/>
                  </a:cubicBezTo>
                  <a:close/>
                </a:path>
              </a:pathLst>
            </a:custGeom>
            <a:solidFill>
              <a:srgbClr val="0E2733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322327" y="6092862"/>
            <a:ext cx="5179581" cy="30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5BBEFF"/>
                </a:solidFill>
                <a:latin typeface="Aptos Bold"/>
                <a:ea typeface="Aptos Bold"/>
                <a:cs typeface="Aptos Bold"/>
                <a:sym typeface="Aptos Bold"/>
              </a:rPr>
              <a:t>REQUEST HUB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36703" y="6622590"/>
            <a:ext cx="627771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1"/>
              </a:lnSpc>
            </a:pPr>
            <a:r>
              <a:rPr lang="en-US" sz="1776">
                <a:solidFill>
                  <a:srgbClr val="A3BEBE"/>
                </a:solidFill>
                <a:latin typeface="Aptos"/>
                <a:ea typeface="Aptos"/>
                <a:cs typeface="Aptos"/>
                <a:sym typeface="Aptos"/>
              </a:rPr>
              <a:t>Dis</a:t>
            </a:r>
            <a:r>
              <a:rPr lang="en-US" sz="1776">
                <a:solidFill>
                  <a:srgbClr val="A3BEBE"/>
                </a:solidFill>
                <a:latin typeface="Aptos"/>
                <a:ea typeface="Aptos"/>
                <a:cs typeface="Aptos"/>
                <a:sym typeface="Aptos"/>
              </a:rPr>
              <a:t>cover datasets and organize structured data requests.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7292130" y="5966684"/>
            <a:ext cx="1201474" cy="432768"/>
            <a:chOff x="0" y="0"/>
            <a:chExt cx="1601965" cy="57702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601978" cy="576961"/>
            </a:xfrm>
            <a:custGeom>
              <a:avLst/>
              <a:gdLst/>
              <a:ahLst/>
              <a:cxnLst/>
              <a:rect r="r" b="b" t="t" l="l"/>
              <a:pathLst>
                <a:path h="576961" w="1601978">
                  <a:moveTo>
                    <a:pt x="0" y="69215"/>
                  </a:moveTo>
                  <a:cubicBezTo>
                    <a:pt x="0" y="30988"/>
                    <a:pt x="30988" y="0"/>
                    <a:pt x="69215" y="0"/>
                  </a:cubicBezTo>
                  <a:lnTo>
                    <a:pt x="1532763" y="0"/>
                  </a:lnTo>
                  <a:cubicBezTo>
                    <a:pt x="1570990" y="0"/>
                    <a:pt x="1601978" y="30988"/>
                    <a:pt x="1601978" y="69215"/>
                  </a:cubicBezTo>
                  <a:lnTo>
                    <a:pt x="1601978" y="507746"/>
                  </a:lnTo>
                  <a:cubicBezTo>
                    <a:pt x="1601978" y="545973"/>
                    <a:pt x="1570990" y="576961"/>
                    <a:pt x="1532763" y="576961"/>
                  </a:cubicBezTo>
                  <a:lnTo>
                    <a:pt x="69215" y="576961"/>
                  </a:lnTo>
                  <a:cubicBezTo>
                    <a:pt x="30988" y="577088"/>
                    <a:pt x="0" y="545973"/>
                    <a:pt x="0" y="507746"/>
                  </a:cubicBezTo>
                  <a:close/>
                </a:path>
              </a:pathLst>
            </a:custGeom>
            <a:solidFill>
              <a:srgbClr val="13353F"/>
            </a:solidFill>
            <a:ln w="20971" cap="sq">
              <a:solidFill>
                <a:srgbClr val="5BBEFF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7389543" y="6105273"/>
            <a:ext cx="1006659" cy="128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1"/>
              </a:lnSpc>
            </a:pPr>
            <a:r>
              <a:rPr lang="en-US" sz="1125" b="true">
                <a:solidFill>
                  <a:srgbClr val="5BBEFF"/>
                </a:solidFill>
                <a:latin typeface="Aptos Bold"/>
                <a:ea typeface="Aptos Bold"/>
                <a:cs typeface="Aptos Bold"/>
                <a:sym typeface="Aptos Bold"/>
              </a:rPr>
              <a:t>UNBLOCK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480604" y="5812965"/>
            <a:ext cx="7851686" cy="1757020"/>
            <a:chOff x="0" y="0"/>
            <a:chExt cx="10468915" cy="234269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468991" cy="2342769"/>
            </a:xfrm>
            <a:custGeom>
              <a:avLst/>
              <a:gdLst/>
              <a:ahLst/>
              <a:cxnLst/>
              <a:rect r="r" b="b" t="t" l="l"/>
              <a:pathLst>
                <a:path h="2342769" w="10468991">
                  <a:moveTo>
                    <a:pt x="0" y="281178"/>
                  </a:moveTo>
                  <a:cubicBezTo>
                    <a:pt x="0" y="125857"/>
                    <a:pt x="125857" y="0"/>
                    <a:pt x="281178" y="0"/>
                  </a:cubicBezTo>
                  <a:lnTo>
                    <a:pt x="10187813" y="0"/>
                  </a:lnTo>
                  <a:cubicBezTo>
                    <a:pt x="10343134" y="0"/>
                    <a:pt x="10468991" y="125857"/>
                    <a:pt x="10468991" y="281178"/>
                  </a:cubicBezTo>
                  <a:lnTo>
                    <a:pt x="10468991" y="2061591"/>
                  </a:lnTo>
                  <a:cubicBezTo>
                    <a:pt x="10468991" y="2216912"/>
                    <a:pt x="10343134" y="2342769"/>
                    <a:pt x="10187813" y="2342769"/>
                  </a:cubicBezTo>
                  <a:lnTo>
                    <a:pt x="281178" y="2342769"/>
                  </a:lnTo>
                  <a:cubicBezTo>
                    <a:pt x="125857" y="2342642"/>
                    <a:pt x="0" y="2216785"/>
                    <a:pt x="0" y="2061591"/>
                  </a:cubicBezTo>
                  <a:close/>
                </a:path>
              </a:pathLst>
            </a:custGeom>
            <a:solidFill>
              <a:srgbClr val="0E2733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9858993" y="6008418"/>
            <a:ext cx="5179581" cy="30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BA8CFF"/>
                </a:solidFill>
                <a:latin typeface="Aptos Bold"/>
                <a:ea typeface="Aptos Bold"/>
                <a:cs typeface="Aptos Bold"/>
                <a:sym typeface="Aptos Bold"/>
              </a:rPr>
              <a:t>COST LENS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858993" y="6560768"/>
            <a:ext cx="6277718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1"/>
              </a:lnSpc>
            </a:pPr>
            <a:r>
              <a:rPr lang="en-US" sz="1776">
                <a:solidFill>
                  <a:srgbClr val="A3BEBE"/>
                </a:solidFill>
                <a:latin typeface="Aptos"/>
                <a:ea typeface="Aptos"/>
                <a:cs typeface="Aptos"/>
                <a:sym typeface="Aptos"/>
              </a:rPr>
              <a:t>Ex</a:t>
            </a:r>
            <a:r>
              <a:rPr lang="en-US" sz="1776">
                <a:solidFill>
                  <a:srgbClr val="A3BEBE"/>
                </a:solidFill>
                <a:latin typeface="Aptos"/>
                <a:ea typeface="Aptos"/>
                <a:cs typeface="Aptos"/>
                <a:sym typeface="Aptos"/>
              </a:rPr>
              <a:t>plore cost trends and connect spending with operational context.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5695990" y="5894975"/>
            <a:ext cx="1201474" cy="432768"/>
            <a:chOff x="0" y="0"/>
            <a:chExt cx="1601965" cy="57702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601978" cy="576961"/>
            </a:xfrm>
            <a:custGeom>
              <a:avLst/>
              <a:gdLst/>
              <a:ahLst/>
              <a:cxnLst/>
              <a:rect r="r" b="b" t="t" l="l"/>
              <a:pathLst>
                <a:path h="576961" w="1601978">
                  <a:moveTo>
                    <a:pt x="0" y="69215"/>
                  </a:moveTo>
                  <a:cubicBezTo>
                    <a:pt x="0" y="30988"/>
                    <a:pt x="30988" y="0"/>
                    <a:pt x="69215" y="0"/>
                  </a:cubicBezTo>
                  <a:lnTo>
                    <a:pt x="1532763" y="0"/>
                  </a:lnTo>
                  <a:cubicBezTo>
                    <a:pt x="1570990" y="0"/>
                    <a:pt x="1601978" y="30988"/>
                    <a:pt x="1601978" y="69215"/>
                  </a:cubicBezTo>
                  <a:lnTo>
                    <a:pt x="1601978" y="507746"/>
                  </a:lnTo>
                  <a:cubicBezTo>
                    <a:pt x="1601978" y="545973"/>
                    <a:pt x="1570990" y="576961"/>
                    <a:pt x="1532763" y="576961"/>
                  </a:cubicBezTo>
                  <a:lnTo>
                    <a:pt x="69215" y="576961"/>
                  </a:lnTo>
                  <a:cubicBezTo>
                    <a:pt x="30988" y="577088"/>
                    <a:pt x="0" y="545973"/>
                    <a:pt x="0" y="507746"/>
                  </a:cubicBezTo>
                  <a:close/>
                </a:path>
              </a:pathLst>
            </a:custGeom>
            <a:solidFill>
              <a:srgbClr val="13353F"/>
            </a:solidFill>
            <a:ln w="20971" cap="sq">
              <a:solidFill>
                <a:srgbClr val="BA8CFF"/>
              </a:solidFill>
              <a:prstDash val="solid"/>
              <a:miter/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15790297" y="6033564"/>
            <a:ext cx="1006659" cy="128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1"/>
              </a:lnSpc>
            </a:pPr>
            <a:r>
              <a:rPr lang="en-US" sz="1125" b="true">
                <a:solidFill>
                  <a:srgbClr val="BA8CFF"/>
                </a:solidFill>
                <a:latin typeface="Aptos Bold"/>
                <a:ea typeface="Aptos Bold"/>
                <a:cs typeface="Aptos Bold"/>
                <a:sym typeface="Aptos Bold"/>
              </a:rPr>
              <a:t>OPTIMIZE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88324" y="8366065"/>
            <a:ext cx="16197539" cy="892235"/>
            <a:chOff x="0" y="0"/>
            <a:chExt cx="21596718" cy="118964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596731" cy="1189609"/>
            </a:xfrm>
            <a:custGeom>
              <a:avLst/>
              <a:gdLst/>
              <a:ahLst/>
              <a:cxnLst/>
              <a:rect r="r" b="b" t="t" l="l"/>
              <a:pathLst>
                <a:path h="1189609" w="21596731">
                  <a:moveTo>
                    <a:pt x="0" y="142748"/>
                  </a:moveTo>
                  <a:cubicBezTo>
                    <a:pt x="0" y="63881"/>
                    <a:pt x="63881" y="0"/>
                    <a:pt x="142748" y="0"/>
                  </a:cubicBezTo>
                  <a:lnTo>
                    <a:pt x="21453983" y="0"/>
                  </a:lnTo>
                  <a:cubicBezTo>
                    <a:pt x="21532850" y="0"/>
                    <a:pt x="21596731" y="63881"/>
                    <a:pt x="21596731" y="142748"/>
                  </a:cubicBezTo>
                  <a:lnTo>
                    <a:pt x="21596731" y="1046861"/>
                  </a:lnTo>
                  <a:cubicBezTo>
                    <a:pt x="21596731" y="1125728"/>
                    <a:pt x="21532850" y="1189609"/>
                    <a:pt x="21453983" y="1189609"/>
                  </a:cubicBezTo>
                  <a:lnTo>
                    <a:pt x="142748" y="1189609"/>
                  </a:lnTo>
                  <a:cubicBezTo>
                    <a:pt x="63881" y="1189609"/>
                    <a:pt x="0" y="1125728"/>
                    <a:pt x="0" y="1046861"/>
                  </a:cubicBezTo>
                  <a:close/>
                </a:path>
              </a:pathLst>
            </a:custGeom>
            <a:solidFill>
              <a:srgbClr val="13353F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322327" y="8653224"/>
            <a:ext cx="15200090" cy="265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00E087"/>
                </a:solidFill>
                <a:latin typeface="Aptos Bold"/>
                <a:ea typeface="Aptos Bold"/>
                <a:cs typeface="Aptos Bold"/>
                <a:sym typeface="Aptos Bold"/>
              </a:rPr>
              <a:t>OPERATING LOOP     Observe  →  Investigate  →  Decide  →  Improve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75495"/>
            <a:chOff x="0" y="0"/>
            <a:chExt cx="24402453" cy="1006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00711"/>
            </a:xfrm>
            <a:custGeom>
              <a:avLst/>
              <a:gdLst/>
              <a:ahLst/>
              <a:cxnLst/>
              <a:rect r="r" b="b" t="t" l="l"/>
              <a:pathLst>
                <a:path h="100711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00E087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355179" y="1963131"/>
            <a:ext cx="11838344" cy="7971739"/>
          </a:xfrm>
          <a:custGeom>
            <a:avLst/>
            <a:gdLst/>
            <a:ahLst/>
            <a:cxnLst/>
            <a:rect r="r" b="b" t="t" l="l"/>
            <a:pathLst>
              <a:path h="7971739" w="11838344">
                <a:moveTo>
                  <a:pt x="0" y="0"/>
                </a:moveTo>
                <a:lnTo>
                  <a:pt x="11838345" y="0"/>
                </a:lnTo>
                <a:lnTo>
                  <a:pt x="11838345" y="7971739"/>
                </a:lnTo>
                <a:lnTo>
                  <a:pt x="0" y="79717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007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481318" y="2393194"/>
            <a:ext cx="5395033" cy="4774779"/>
          </a:xfrm>
          <a:custGeom>
            <a:avLst/>
            <a:gdLst/>
            <a:ahLst/>
            <a:cxnLst/>
            <a:rect r="r" b="b" t="t" l="l"/>
            <a:pathLst>
              <a:path h="4774779" w="5395033">
                <a:moveTo>
                  <a:pt x="0" y="0"/>
                </a:moveTo>
                <a:lnTo>
                  <a:pt x="5395033" y="0"/>
                </a:lnTo>
                <a:lnTo>
                  <a:pt x="5395033" y="4774779"/>
                </a:lnTo>
                <a:lnTo>
                  <a:pt x="0" y="47747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69347" y="530381"/>
            <a:ext cx="13690149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1"/>
              </a:lnSpc>
            </a:pPr>
            <a:r>
              <a:rPr lang="en-US" sz="2001" b="true">
                <a:solidFill>
                  <a:srgbClr val="00E087"/>
                </a:solidFill>
                <a:latin typeface="Aptos Bold"/>
                <a:ea typeface="Aptos Bold"/>
                <a:cs typeface="Aptos Bold"/>
                <a:sym typeface="Aptos Bold"/>
              </a:rPr>
              <a:t>03 / SYSTEM ARCHITECTURE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025674" y="1028700"/>
            <a:ext cx="16572757" cy="677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F2F9F7"/>
                </a:solidFill>
                <a:latin typeface="Aptos Bold"/>
                <a:ea typeface="Aptos Bold"/>
                <a:cs typeface="Aptos Bold"/>
                <a:sym typeface="Aptos Bold"/>
              </a:rPr>
              <a:t>A thin service layer. A strong analytical core.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481318" y="7551216"/>
            <a:ext cx="5082801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i="true">
                <a:solidFill>
                  <a:srgbClr val="A3BEBE"/>
                </a:solidFill>
                <a:latin typeface="Aptos Italics"/>
                <a:ea typeface="Aptos Italics"/>
                <a:cs typeface="Aptos Italics"/>
                <a:sym typeface="Aptos Italics"/>
              </a:rPr>
              <a:t>Exasol stores and serves the unified operational dataset; source platforms remain authoritative for their own records.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162669" y="9727282"/>
            <a:ext cx="183356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48666C"/>
                </a:solidFill>
                <a:latin typeface="Aptos Bold"/>
                <a:ea typeface="Aptos Bold"/>
                <a:cs typeface="Aptos Bold"/>
                <a:sym typeface="Aptos Bold"/>
              </a:rPr>
              <a:t>04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481318" y="8675166"/>
            <a:ext cx="5109358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i="true">
                <a:solidFill>
                  <a:srgbClr val="A3BEBE"/>
                </a:solidFill>
                <a:latin typeface="Aptos Italics"/>
                <a:ea typeface="Aptos Italics"/>
                <a:cs typeface="Aptos Italics"/>
                <a:sym typeface="Aptos Italics"/>
              </a:rPr>
              <a:t>Failure path: source event → persisted run status → API response → dashboard alert. If a source API is unavailable, show a clear degraded state and last successful refresh.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75495"/>
            <a:chOff x="0" y="0"/>
            <a:chExt cx="24402453" cy="1006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00711"/>
            </a:xfrm>
            <a:custGeom>
              <a:avLst/>
              <a:gdLst/>
              <a:ahLst/>
              <a:cxnLst/>
              <a:rect r="r" b="b" t="t" l="l"/>
              <a:pathLst>
                <a:path h="100711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00E08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69347" y="8694327"/>
            <a:ext cx="15475302" cy="1173743"/>
            <a:chOff x="0" y="0"/>
            <a:chExt cx="22331316" cy="16937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331302" cy="1693663"/>
            </a:xfrm>
            <a:custGeom>
              <a:avLst/>
              <a:gdLst/>
              <a:ahLst/>
              <a:cxnLst/>
              <a:rect r="r" b="b" t="t" l="l"/>
              <a:pathLst>
                <a:path h="1693663" w="22331302">
                  <a:moveTo>
                    <a:pt x="0" y="203219"/>
                  </a:moveTo>
                  <a:cubicBezTo>
                    <a:pt x="0" y="90998"/>
                    <a:pt x="116067" y="0"/>
                    <a:pt x="259203" y="0"/>
                  </a:cubicBezTo>
                  <a:lnTo>
                    <a:pt x="22072099" y="0"/>
                  </a:lnTo>
                  <a:cubicBezTo>
                    <a:pt x="22215235" y="0"/>
                    <a:pt x="22331302" y="90998"/>
                    <a:pt x="22331302" y="203219"/>
                  </a:cubicBezTo>
                  <a:lnTo>
                    <a:pt x="22331302" y="1490444"/>
                  </a:lnTo>
                  <a:cubicBezTo>
                    <a:pt x="22331302" y="1602665"/>
                    <a:pt x="22215235" y="1693663"/>
                    <a:pt x="22072099" y="1693663"/>
                  </a:cubicBezTo>
                  <a:lnTo>
                    <a:pt x="259203" y="1693663"/>
                  </a:lnTo>
                  <a:cubicBezTo>
                    <a:pt x="116067" y="1693771"/>
                    <a:pt x="0" y="1602768"/>
                    <a:pt x="0" y="1490444"/>
                  </a:cubicBezTo>
                  <a:close/>
                </a:path>
              </a:pathLst>
            </a:custGeom>
            <a:solidFill>
              <a:srgbClr val="13353F"/>
            </a:solidFill>
            <a:ln w="20971" cap="sq">
              <a:solidFill>
                <a:srgbClr val="00E087"/>
              </a:soli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896798" y="2324395"/>
            <a:ext cx="11074343" cy="4080820"/>
          </a:xfrm>
          <a:custGeom>
            <a:avLst/>
            <a:gdLst/>
            <a:ahLst/>
            <a:cxnLst/>
            <a:rect r="r" b="b" t="t" l="l"/>
            <a:pathLst>
              <a:path h="4080820" w="11074343">
                <a:moveTo>
                  <a:pt x="0" y="0"/>
                </a:moveTo>
                <a:lnTo>
                  <a:pt x="11074343" y="0"/>
                </a:lnTo>
                <a:lnTo>
                  <a:pt x="11074343" y="4080820"/>
                </a:lnTo>
                <a:lnTo>
                  <a:pt x="0" y="40808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044648" y="2572045"/>
            <a:ext cx="3530445" cy="5532383"/>
          </a:xfrm>
          <a:custGeom>
            <a:avLst/>
            <a:gdLst/>
            <a:ahLst/>
            <a:cxnLst/>
            <a:rect r="r" b="b" t="t" l="l"/>
            <a:pathLst>
              <a:path h="5532383" w="3530445">
                <a:moveTo>
                  <a:pt x="0" y="0"/>
                </a:moveTo>
                <a:lnTo>
                  <a:pt x="3530445" y="0"/>
                </a:lnTo>
                <a:lnTo>
                  <a:pt x="3530445" y="5532383"/>
                </a:lnTo>
                <a:lnTo>
                  <a:pt x="0" y="55323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526793" y="2572045"/>
            <a:ext cx="89230" cy="5608774"/>
          </a:xfrm>
          <a:custGeom>
            <a:avLst/>
            <a:gdLst/>
            <a:ahLst/>
            <a:cxnLst/>
            <a:rect r="r" b="b" t="t" l="l"/>
            <a:pathLst>
              <a:path h="5608774" w="89230">
                <a:moveTo>
                  <a:pt x="0" y="0"/>
                </a:moveTo>
                <a:lnTo>
                  <a:pt x="89230" y="0"/>
                </a:lnTo>
                <a:lnTo>
                  <a:pt x="89230" y="5608774"/>
                </a:lnTo>
                <a:lnTo>
                  <a:pt x="0" y="56087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6405215"/>
            <a:ext cx="11071001" cy="1822387"/>
          </a:xfrm>
          <a:custGeom>
            <a:avLst/>
            <a:gdLst/>
            <a:ahLst/>
            <a:cxnLst/>
            <a:rect r="r" b="b" t="t" l="l"/>
            <a:pathLst>
              <a:path h="1822387" w="11071001">
                <a:moveTo>
                  <a:pt x="0" y="0"/>
                </a:moveTo>
                <a:lnTo>
                  <a:pt x="11071001" y="0"/>
                </a:lnTo>
                <a:lnTo>
                  <a:pt x="11071001" y="1822387"/>
                </a:lnTo>
                <a:lnTo>
                  <a:pt x="0" y="18223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69347" y="530381"/>
            <a:ext cx="13690149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1"/>
              </a:lnSpc>
            </a:pPr>
            <a:r>
              <a:rPr lang="en-US" sz="2001" b="true">
                <a:solidFill>
                  <a:srgbClr val="00E087"/>
                </a:solidFill>
                <a:latin typeface="Aptos Bold"/>
                <a:ea typeface="Aptos Bold"/>
                <a:cs typeface="Aptos Bold"/>
                <a:sym typeface="Aptos Bold"/>
              </a:rPr>
              <a:t>04 / INTELLIGENCE ENGINE AND EXASOL’S ROLE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329645" y="1028700"/>
            <a:ext cx="16572757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F2F9F7"/>
                </a:solidFill>
                <a:latin typeface="Aptos Bold"/>
                <a:ea typeface="Aptos Bold"/>
                <a:cs typeface="Aptos Bold"/>
                <a:sym typeface="Aptos Bold"/>
              </a:rPr>
              <a:t>Ex</a:t>
            </a:r>
            <a:r>
              <a:rPr lang="en-US" sz="3903" b="true">
                <a:solidFill>
                  <a:srgbClr val="F2F9F7"/>
                </a:solidFill>
                <a:latin typeface="Aptos Bold"/>
                <a:ea typeface="Aptos Bold"/>
                <a:cs typeface="Aptos Bold"/>
                <a:sym typeface="Aptos Bold"/>
              </a:rPr>
              <a:t>asol Powers the Intelligence Layer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31678" y="1857670"/>
            <a:ext cx="1643549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1"/>
              </a:lnSpc>
            </a:pPr>
            <a:r>
              <a:rPr lang="en-US" sz="1851">
                <a:solidFill>
                  <a:srgbClr val="A3BEBE"/>
                </a:solidFill>
                <a:latin typeface="Aptos"/>
                <a:ea typeface="Aptos"/>
                <a:cs typeface="Aptos"/>
                <a:sym typeface="Aptos"/>
              </a:rPr>
              <a:t>Exasol powers the analytical workflow by evaluating operational rules, identifying anomalies, and providing supporting evidence for detected issues.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162669" y="9727282"/>
            <a:ext cx="183356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48666C"/>
                </a:solidFill>
                <a:latin typeface="Aptos Bold"/>
                <a:ea typeface="Aptos Bold"/>
                <a:cs typeface="Aptos Bold"/>
                <a:sym typeface="Aptos Bold"/>
              </a:rPr>
              <a:t>05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17366" y="9210500"/>
            <a:ext cx="284603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1"/>
              </a:lnSpc>
            </a:pPr>
            <a:r>
              <a:rPr lang="en-US" sz="1851" b="true">
                <a:solidFill>
                  <a:srgbClr val="00E087"/>
                </a:solidFill>
                <a:latin typeface="Aptos Bold"/>
                <a:ea typeface="Aptos Bold"/>
                <a:cs typeface="Aptos Bold"/>
                <a:sym typeface="Aptos Bold"/>
              </a:rPr>
              <a:t>CORE TABLES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573280" y="9041959"/>
            <a:ext cx="12180208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924" indent="-194462" lvl="1">
              <a:lnSpc>
                <a:spcPts val="2161"/>
              </a:lnSpc>
              <a:buFont typeface="Arial"/>
              <a:buChar char="•"/>
            </a:pPr>
            <a:r>
              <a:rPr lang="en-US" b="true" sz="1801">
                <a:solidFill>
                  <a:srgbClr val="F2F9F7"/>
                </a:solidFill>
                <a:latin typeface="Aptos Bold"/>
                <a:ea typeface="Aptos Bold"/>
                <a:cs typeface="Aptos Bold"/>
                <a:sym typeface="Aptos Bold"/>
              </a:rPr>
              <a:t>O</a:t>
            </a:r>
            <a:r>
              <a:rPr lang="en-US" b="true" sz="1801">
                <a:solidFill>
                  <a:srgbClr val="F2F9F7"/>
                </a:solidFill>
                <a:latin typeface="Aptos Bold"/>
                <a:ea typeface="Aptos Bold"/>
                <a:cs typeface="Aptos Bold"/>
                <a:sym typeface="Aptos Bold"/>
              </a:rPr>
              <a:t>PS_INTEL — the Exasol schema, like a folder that groups related database objects.</a:t>
            </a:r>
          </a:p>
          <a:p>
            <a:pPr algn="l" marL="388924" indent="-194462" lvl="1">
              <a:lnSpc>
                <a:spcPts val="2161"/>
              </a:lnSpc>
              <a:buFont typeface="Arial"/>
              <a:buChar char="•"/>
            </a:pPr>
            <a:r>
              <a:rPr lang="en-US" b="true" sz="1801">
                <a:solidFill>
                  <a:srgbClr val="F2F9F7"/>
                </a:solidFill>
                <a:latin typeface="Aptos Bold"/>
                <a:ea typeface="Aptos Bold"/>
                <a:cs typeface="Aptos Bold"/>
                <a:sym typeface="Aptos Bold"/>
              </a:rPr>
              <a:t>V_FINDINGS — the view name. The V_ prefix commonly stands for View.</a:t>
            </a:r>
          </a:p>
          <a:p>
            <a:pPr algn="l">
              <a:lnSpc>
                <a:spcPts val="2161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95854" y="2098944"/>
            <a:ext cx="6586367" cy="2313745"/>
          </a:xfrm>
          <a:custGeom>
            <a:avLst/>
            <a:gdLst/>
            <a:ahLst/>
            <a:cxnLst/>
            <a:rect r="r" b="b" t="t" l="l"/>
            <a:pathLst>
              <a:path h="2313745" w="6586367">
                <a:moveTo>
                  <a:pt x="0" y="0"/>
                </a:moveTo>
                <a:lnTo>
                  <a:pt x="6586366" y="0"/>
                </a:lnTo>
                <a:lnTo>
                  <a:pt x="6586366" y="2313745"/>
                </a:lnTo>
                <a:lnTo>
                  <a:pt x="0" y="23137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54638" y="2332791"/>
            <a:ext cx="6774113" cy="2079898"/>
          </a:xfrm>
          <a:custGeom>
            <a:avLst/>
            <a:gdLst/>
            <a:ahLst/>
            <a:cxnLst/>
            <a:rect r="r" b="b" t="t" l="l"/>
            <a:pathLst>
              <a:path h="2079898" w="6774113">
                <a:moveTo>
                  <a:pt x="0" y="0"/>
                </a:moveTo>
                <a:lnTo>
                  <a:pt x="6774113" y="0"/>
                </a:lnTo>
                <a:lnTo>
                  <a:pt x="6774113" y="2079898"/>
                </a:lnTo>
                <a:lnTo>
                  <a:pt x="0" y="20798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95854" y="4631764"/>
            <a:ext cx="6586367" cy="2445571"/>
          </a:xfrm>
          <a:custGeom>
            <a:avLst/>
            <a:gdLst/>
            <a:ahLst/>
            <a:cxnLst/>
            <a:rect r="r" b="b" t="t" l="l"/>
            <a:pathLst>
              <a:path h="2445571" w="6586367">
                <a:moveTo>
                  <a:pt x="0" y="0"/>
                </a:moveTo>
                <a:lnTo>
                  <a:pt x="6586366" y="0"/>
                </a:lnTo>
                <a:lnTo>
                  <a:pt x="6586366" y="2445571"/>
                </a:lnTo>
                <a:lnTo>
                  <a:pt x="0" y="24455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27933" y="4631764"/>
            <a:ext cx="6800818" cy="2544915"/>
          </a:xfrm>
          <a:custGeom>
            <a:avLst/>
            <a:gdLst/>
            <a:ahLst/>
            <a:cxnLst/>
            <a:rect r="r" b="b" t="t" l="l"/>
            <a:pathLst>
              <a:path h="2544915" w="6800818">
                <a:moveTo>
                  <a:pt x="0" y="0"/>
                </a:moveTo>
                <a:lnTo>
                  <a:pt x="6800818" y="0"/>
                </a:lnTo>
                <a:lnTo>
                  <a:pt x="6800818" y="2544915"/>
                </a:lnTo>
                <a:lnTo>
                  <a:pt x="0" y="25449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969587" y="7105910"/>
            <a:ext cx="11571620" cy="3041569"/>
          </a:xfrm>
          <a:custGeom>
            <a:avLst/>
            <a:gdLst/>
            <a:ahLst/>
            <a:cxnLst/>
            <a:rect r="r" b="b" t="t" l="l"/>
            <a:pathLst>
              <a:path h="3041569" w="11571620">
                <a:moveTo>
                  <a:pt x="0" y="0"/>
                </a:moveTo>
                <a:lnTo>
                  <a:pt x="11571621" y="0"/>
                </a:lnTo>
                <a:lnTo>
                  <a:pt x="11571621" y="3041569"/>
                </a:lnTo>
                <a:lnTo>
                  <a:pt x="0" y="30415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471" r="0" b="-471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87635" y="429711"/>
            <a:ext cx="13653573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00E087"/>
                </a:solidFill>
                <a:latin typeface="Aptos Bold"/>
                <a:ea typeface="Aptos Bold"/>
                <a:cs typeface="Aptos Bold"/>
                <a:sym typeface="Aptos Bold"/>
              </a:rPr>
              <a:t>05 / VALIDATION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176191" y="777583"/>
            <a:ext cx="16398916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F4F8FA"/>
                </a:solidFill>
                <a:latin typeface="Aptos Bold"/>
                <a:ea typeface="Aptos Bold"/>
                <a:cs typeface="Aptos Bold"/>
                <a:sym typeface="Aptos Bold"/>
              </a:rPr>
              <a:t>BUIL</a:t>
            </a:r>
            <a:r>
              <a:rPr lang="en-US" sz="3903" b="true">
                <a:solidFill>
                  <a:srgbClr val="F4F8FA"/>
                </a:solidFill>
                <a:latin typeface="Aptos Bold"/>
                <a:ea typeface="Aptos Bold"/>
                <a:cs typeface="Aptos Bold"/>
                <a:sym typeface="Aptos Bold"/>
              </a:rPr>
              <a:t>T TO DETECT. TESTED TO VALIDATE.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92544" y="1577374"/>
            <a:ext cx="1639891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1"/>
              </a:lnSpc>
            </a:pPr>
            <a:r>
              <a:rPr lang="en-US" sz="2001">
                <a:solidFill>
                  <a:srgbClr val="AABBC7"/>
                </a:solidFill>
                <a:latin typeface="Aptos"/>
                <a:ea typeface="Aptos"/>
                <a:cs typeface="Aptos"/>
                <a:sym typeface="Aptos"/>
              </a:rPr>
              <a:t>Valid</a:t>
            </a:r>
            <a:r>
              <a:rPr lang="en-US" sz="2001">
                <a:solidFill>
                  <a:srgbClr val="AABBC7"/>
                </a:solidFill>
                <a:latin typeface="Aptos"/>
                <a:ea typeface="Aptos"/>
                <a:cs typeface="Aptos"/>
                <a:sym typeface="Aptos"/>
              </a:rPr>
              <a:t>ating analytical rules, database outputs, and evidence-backed findings.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714546" y="9736426"/>
            <a:ext cx="681819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AABBC7"/>
                </a:solidFill>
                <a:latin typeface="Aptos Bold"/>
                <a:ea typeface="Aptos Bold"/>
                <a:cs typeface="Aptos Bold"/>
                <a:sym typeface="Aptos Bol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75495"/>
            <a:chOff x="0" y="0"/>
            <a:chExt cx="24402453" cy="1006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00711"/>
            </a:xfrm>
            <a:custGeom>
              <a:avLst/>
              <a:gdLst/>
              <a:ahLst/>
              <a:cxnLst/>
              <a:rect r="r" b="b" t="t" l="l"/>
              <a:pathLst>
                <a:path h="100711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00E087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19348" y="536505"/>
            <a:ext cx="6826787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00E087"/>
                </a:solidFill>
                <a:latin typeface="Aptos Bold"/>
                <a:ea typeface="Aptos Bold"/>
                <a:cs typeface="Aptos Bold"/>
                <a:sym typeface="Aptos Bold"/>
              </a:rPr>
              <a:t>06 / IMPACT AND CONCLUSION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764895" y="9727282"/>
            <a:ext cx="581130" cy="220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48666C"/>
                </a:solidFill>
                <a:latin typeface="Aptos Bold"/>
                <a:ea typeface="Aptos Bold"/>
                <a:cs typeface="Aptos Bold"/>
                <a:sym typeface="Aptos Bold"/>
              </a:rPr>
              <a:t>12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059625" y="1198493"/>
            <a:ext cx="16060264" cy="864784"/>
            <a:chOff x="0" y="0"/>
            <a:chExt cx="21413686" cy="11530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413690" cy="1153045"/>
            </a:xfrm>
            <a:custGeom>
              <a:avLst/>
              <a:gdLst/>
              <a:ahLst/>
              <a:cxnLst/>
              <a:rect r="r" b="b" t="t" l="l"/>
              <a:pathLst>
                <a:path h="1153045" w="21413690">
                  <a:moveTo>
                    <a:pt x="0" y="0"/>
                  </a:moveTo>
                  <a:lnTo>
                    <a:pt x="21413690" y="0"/>
                  </a:lnTo>
                  <a:lnTo>
                    <a:pt x="21413690" y="1153045"/>
                  </a:lnTo>
                  <a:lnTo>
                    <a:pt x="0" y="115304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1864" r="0" b="-311864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21413686" cy="11530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3"/>
                </a:lnSpc>
              </a:pPr>
              <a:r>
                <a:rPr lang="en-US" sz="3602" b="true">
                  <a:solidFill>
                    <a:srgbClr val="F1FAF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FROM OPERATIONAL DATA TO INTELLIGENCE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130212" y="2158527"/>
            <a:ext cx="16197539" cy="658883"/>
            <a:chOff x="0" y="0"/>
            <a:chExt cx="21596718" cy="87851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596713" cy="878511"/>
            </a:xfrm>
            <a:custGeom>
              <a:avLst/>
              <a:gdLst/>
              <a:ahLst/>
              <a:cxnLst/>
              <a:rect r="r" b="b" t="t" l="l"/>
              <a:pathLst>
                <a:path h="878511" w="21596713">
                  <a:moveTo>
                    <a:pt x="0" y="0"/>
                  </a:moveTo>
                  <a:lnTo>
                    <a:pt x="21596713" y="0"/>
                  </a:lnTo>
                  <a:lnTo>
                    <a:pt x="21596713" y="878511"/>
                  </a:lnTo>
                  <a:lnTo>
                    <a:pt x="0" y="87851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9007" r="0" b="-42900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21596718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1"/>
                </a:lnSpc>
              </a:pPr>
              <a:r>
                <a:rPr lang="en-US" sz="1901">
                  <a:solidFill>
                    <a:srgbClr val="A6C2B5"/>
                  </a:solidFill>
                  <a:latin typeface="Aptos"/>
                  <a:ea typeface="Aptos"/>
                  <a:cs typeface="Aptos"/>
                  <a:sym typeface="Aptos"/>
                </a:rPr>
                <a:t>OpsNexus turns operational signals into structured, evidence-backed findings with Exasol-powered analytics.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25776" y="3284135"/>
            <a:ext cx="4186741" cy="3073053"/>
            <a:chOff x="0" y="0"/>
            <a:chExt cx="5296484" cy="3887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296408" cy="3887506"/>
            </a:xfrm>
            <a:custGeom>
              <a:avLst/>
              <a:gdLst/>
              <a:ahLst/>
              <a:cxnLst/>
              <a:rect r="r" b="b" t="t" l="l"/>
              <a:pathLst>
                <a:path h="3887506" w="5296408">
                  <a:moveTo>
                    <a:pt x="0" y="647918"/>
                  </a:moveTo>
                  <a:cubicBezTo>
                    <a:pt x="0" y="290136"/>
                    <a:pt x="275082" y="0"/>
                    <a:pt x="614299" y="0"/>
                  </a:cubicBezTo>
                  <a:lnTo>
                    <a:pt x="4682109" y="0"/>
                  </a:lnTo>
                  <a:cubicBezTo>
                    <a:pt x="5021453" y="0"/>
                    <a:pt x="5296408" y="290136"/>
                    <a:pt x="5296408" y="647918"/>
                  </a:cubicBezTo>
                  <a:lnTo>
                    <a:pt x="5296408" y="3239589"/>
                  </a:lnTo>
                  <a:cubicBezTo>
                    <a:pt x="5296408" y="3597504"/>
                    <a:pt x="5021326" y="3887506"/>
                    <a:pt x="4682109" y="3887506"/>
                  </a:cubicBezTo>
                  <a:lnTo>
                    <a:pt x="614299" y="3887506"/>
                  </a:lnTo>
                  <a:cubicBezTo>
                    <a:pt x="275082" y="3887638"/>
                    <a:pt x="0" y="3597504"/>
                    <a:pt x="0" y="3239589"/>
                  </a:cubicBezTo>
                  <a:close/>
                </a:path>
              </a:pathLst>
            </a:custGeom>
            <a:solidFill>
              <a:srgbClr val="0E221E"/>
            </a:solidFill>
            <a:ln w="19065" cap="sq">
              <a:solidFill>
                <a:srgbClr val="274F41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786188" y="3589325"/>
            <a:ext cx="714539" cy="677343"/>
            <a:chOff x="0" y="0"/>
            <a:chExt cx="903935" cy="8568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03986" cy="856880"/>
            </a:xfrm>
            <a:custGeom>
              <a:avLst/>
              <a:gdLst/>
              <a:ahLst/>
              <a:cxnLst/>
              <a:rect r="r" b="b" t="t" l="l"/>
              <a:pathLst>
                <a:path h="856880" w="903986">
                  <a:moveTo>
                    <a:pt x="0" y="142791"/>
                  </a:moveTo>
                  <a:cubicBezTo>
                    <a:pt x="0" y="63894"/>
                    <a:pt x="60579" y="0"/>
                    <a:pt x="135382" y="0"/>
                  </a:cubicBezTo>
                  <a:lnTo>
                    <a:pt x="768477" y="0"/>
                  </a:lnTo>
                  <a:cubicBezTo>
                    <a:pt x="843280" y="0"/>
                    <a:pt x="903986" y="63894"/>
                    <a:pt x="903986" y="142791"/>
                  </a:cubicBezTo>
                  <a:lnTo>
                    <a:pt x="903986" y="714089"/>
                  </a:lnTo>
                  <a:cubicBezTo>
                    <a:pt x="903986" y="792986"/>
                    <a:pt x="843407" y="856880"/>
                    <a:pt x="768604" y="856880"/>
                  </a:cubicBezTo>
                  <a:lnTo>
                    <a:pt x="135382" y="856880"/>
                  </a:lnTo>
                  <a:cubicBezTo>
                    <a:pt x="60579" y="856880"/>
                    <a:pt x="0" y="792986"/>
                    <a:pt x="0" y="714089"/>
                  </a:cubicBezTo>
                  <a:close/>
                </a:path>
              </a:pathLst>
            </a:custGeom>
            <a:solidFill>
              <a:srgbClr val="5BE891"/>
            </a:solidFill>
            <a:ln w="19065" cap="sq">
              <a:solidFill>
                <a:srgbClr val="5BE891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796237" y="3599924"/>
            <a:ext cx="694441" cy="656145"/>
            <a:chOff x="0" y="0"/>
            <a:chExt cx="878510" cy="83006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78510" cy="830069"/>
            </a:xfrm>
            <a:custGeom>
              <a:avLst/>
              <a:gdLst/>
              <a:ahLst/>
              <a:cxnLst/>
              <a:rect r="r" b="b" t="t" l="l"/>
              <a:pathLst>
                <a:path h="830069" w="878510">
                  <a:moveTo>
                    <a:pt x="0" y="0"/>
                  </a:moveTo>
                  <a:lnTo>
                    <a:pt x="878510" y="0"/>
                  </a:lnTo>
                  <a:lnTo>
                    <a:pt x="878510" y="830069"/>
                  </a:lnTo>
                  <a:lnTo>
                    <a:pt x="0" y="8300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4937" t="0" r="-64937" b="5189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878510" cy="8300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071211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96237" y="4484960"/>
            <a:ext cx="3674750" cy="640887"/>
            <a:chOff x="0" y="0"/>
            <a:chExt cx="4648784" cy="81076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648784" cy="810765"/>
            </a:xfrm>
            <a:custGeom>
              <a:avLst/>
              <a:gdLst/>
              <a:ahLst/>
              <a:cxnLst/>
              <a:rect r="r" b="b" t="t" l="l"/>
              <a:pathLst>
                <a:path h="810765" w="4648784">
                  <a:moveTo>
                    <a:pt x="0" y="0"/>
                  </a:moveTo>
                  <a:lnTo>
                    <a:pt x="4648784" y="0"/>
                  </a:lnTo>
                  <a:lnTo>
                    <a:pt x="4648784" y="810765"/>
                  </a:lnTo>
                  <a:lnTo>
                    <a:pt x="0" y="81076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318" r="0" b="-59129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4648784" cy="8107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 b="true">
                  <a:solidFill>
                    <a:srgbClr val="F1FAF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EARLIER DETECTION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86188" y="5222064"/>
            <a:ext cx="801336" cy="89864"/>
            <a:chOff x="0" y="0"/>
            <a:chExt cx="1013739" cy="11368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13714" cy="113722"/>
            </a:xfrm>
            <a:custGeom>
              <a:avLst/>
              <a:gdLst/>
              <a:ahLst/>
              <a:cxnLst/>
              <a:rect r="r" b="b" t="t" l="l"/>
              <a:pathLst>
                <a:path h="113722" w="1013714">
                  <a:moveTo>
                    <a:pt x="0" y="0"/>
                  </a:moveTo>
                  <a:lnTo>
                    <a:pt x="1013714" y="0"/>
                  </a:lnTo>
                  <a:lnTo>
                    <a:pt x="1013714" y="113722"/>
                  </a:lnTo>
                  <a:lnTo>
                    <a:pt x="0" y="113722"/>
                  </a:lnTo>
                  <a:close/>
                </a:path>
              </a:pathLst>
            </a:custGeom>
            <a:solidFill>
              <a:srgbClr val="5BE891"/>
            </a:solidFill>
            <a:ln w="19065" cap="sq">
              <a:solidFill>
                <a:srgbClr val="5BE891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796237" y="5400521"/>
            <a:ext cx="3674750" cy="732445"/>
            <a:chOff x="0" y="0"/>
            <a:chExt cx="4648784" cy="92658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648784" cy="926589"/>
            </a:xfrm>
            <a:custGeom>
              <a:avLst/>
              <a:gdLst/>
              <a:ahLst/>
              <a:cxnLst/>
              <a:rect r="r" b="b" t="t" l="l"/>
              <a:pathLst>
                <a:path h="926589" w="4648784">
                  <a:moveTo>
                    <a:pt x="0" y="0"/>
                  </a:moveTo>
                  <a:lnTo>
                    <a:pt x="4648784" y="0"/>
                  </a:lnTo>
                  <a:lnTo>
                    <a:pt x="4648784" y="926589"/>
                  </a:lnTo>
                  <a:lnTo>
                    <a:pt x="0" y="92658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352" r="0" b="-4516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4648784" cy="926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75"/>
                </a:lnSpc>
              </a:pPr>
              <a:r>
                <a:rPr lang="en-US" sz="1646">
                  <a:solidFill>
                    <a:srgbClr val="A6C2B5"/>
                  </a:solidFill>
                  <a:latin typeface="Aptos"/>
                  <a:ea typeface="Aptos"/>
                  <a:cs typeface="Aptos"/>
                  <a:sym typeface="Aptos"/>
                </a:rPr>
                <a:t>Surface pipeline, freshness, and data-quality issues.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4952841" y="3284135"/>
            <a:ext cx="4186741" cy="3073053"/>
            <a:chOff x="0" y="0"/>
            <a:chExt cx="5296484" cy="38876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296408" cy="3887506"/>
            </a:xfrm>
            <a:custGeom>
              <a:avLst/>
              <a:gdLst/>
              <a:ahLst/>
              <a:cxnLst/>
              <a:rect r="r" b="b" t="t" l="l"/>
              <a:pathLst>
                <a:path h="3887506" w="5296408">
                  <a:moveTo>
                    <a:pt x="0" y="647918"/>
                  </a:moveTo>
                  <a:cubicBezTo>
                    <a:pt x="0" y="290136"/>
                    <a:pt x="275082" y="0"/>
                    <a:pt x="614299" y="0"/>
                  </a:cubicBezTo>
                  <a:lnTo>
                    <a:pt x="4682109" y="0"/>
                  </a:lnTo>
                  <a:cubicBezTo>
                    <a:pt x="5021453" y="0"/>
                    <a:pt x="5296408" y="290136"/>
                    <a:pt x="5296408" y="647918"/>
                  </a:cubicBezTo>
                  <a:lnTo>
                    <a:pt x="5296408" y="3239589"/>
                  </a:lnTo>
                  <a:cubicBezTo>
                    <a:pt x="5296408" y="3597504"/>
                    <a:pt x="5021326" y="3887506"/>
                    <a:pt x="4682109" y="3887506"/>
                  </a:cubicBezTo>
                  <a:lnTo>
                    <a:pt x="614299" y="3887506"/>
                  </a:lnTo>
                  <a:cubicBezTo>
                    <a:pt x="275082" y="3887638"/>
                    <a:pt x="0" y="3597504"/>
                    <a:pt x="0" y="3239589"/>
                  </a:cubicBezTo>
                  <a:close/>
                </a:path>
              </a:pathLst>
            </a:custGeom>
            <a:solidFill>
              <a:srgbClr val="0E221E"/>
            </a:solidFill>
            <a:ln w="19065" cap="sq">
              <a:solidFill>
                <a:srgbClr val="274F41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5213254" y="3589325"/>
            <a:ext cx="714539" cy="677343"/>
            <a:chOff x="0" y="0"/>
            <a:chExt cx="903935" cy="8568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03986" cy="856880"/>
            </a:xfrm>
            <a:custGeom>
              <a:avLst/>
              <a:gdLst/>
              <a:ahLst/>
              <a:cxnLst/>
              <a:rect r="r" b="b" t="t" l="l"/>
              <a:pathLst>
                <a:path h="856880" w="903986">
                  <a:moveTo>
                    <a:pt x="0" y="142791"/>
                  </a:moveTo>
                  <a:cubicBezTo>
                    <a:pt x="0" y="63894"/>
                    <a:pt x="60579" y="0"/>
                    <a:pt x="135382" y="0"/>
                  </a:cubicBezTo>
                  <a:lnTo>
                    <a:pt x="768477" y="0"/>
                  </a:lnTo>
                  <a:cubicBezTo>
                    <a:pt x="843280" y="0"/>
                    <a:pt x="903986" y="63894"/>
                    <a:pt x="903986" y="142791"/>
                  </a:cubicBezTo>
                  <a:lnTo>
                    <a:pt x="903986" y="714089"/>
                  </a:lnTo>
                  <a:cubicBezTo>
                    <a:pt x="903986" y="792986"/>
                    <a:pt x="843407" y="856880"/>
                    <a:pt x="768604" y="856880"/>
                  </a:cubicBezTo>
                  <a:lnTo>
                    <a:pt x="135382" y="856880"/>
                  </a:lnTo>
                  <a:cubicBezTo>
                    <a:pt x="60579" y="856880"/>
                    <a:pt x="0" y="792986"/>
                    <a:pt x="0" y="714089"/>
                  </a:cubicBezTo>
                  <a:close/>
                </a:path>
              </a:pathLst>
            </a:custGeom>
            <a:solidFill>
              <a:srgbClr val="37BE94"/>
            </a:solidFill>
            <a:ln w="19065" cap="sq">
              <a:solidFill>
                <a:srgbClr val="37BE94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5223303" y="3599924"/>
            <a:ext cx="694441" cy="656145"/>
            <a:chOff x="0" y="0"/>
            <a:chExt cx="878510" cy="83006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78510" cy="830069"/>
            </a:xfrm>
            <a:custGeom>
              <a:avLst/>
              <a:gdLst/>
              <a:ahLst/>
              <a:cxnLst/>
              <a:rect r="r" b="b" t="t" l="l"/>
              <a:pathLst>
                <a:path h="830069" w="878510">
                  <a:moveTo>
                    <a:pt x="0" y="0"/>
                  </a:moveTo>
                  <a:lnTo>
                    <a:pt x="878510" y="0"/>
                  </a:lnTo>
                  <a:lnTo>
                    <a:pt x="878510" y="830069"/>
                  </a:lnTo>
                  <a:lnTo>
                    <a:pt x="0" y="8300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4937" t="0" r="-64937" b="5189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878510" cy="8300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071211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5223303" y="4484960"/>
            <a:ext cx="3674750" cy="640887"/>
            <a:chOff x="0" y="0"/>
            <a:chExt cx="4648784" cy="81076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648784" cy="810765"/>
            </a:xfrm>
            <a:custGeom>
              <a:avLst/>
              <a:gdLst/>
              <a:ahLst/>
              <a:cxnLst/>
              <a:rect r="r" b="b" t="t" l="l"/>
              <a:pathLst>
                <a:path h="810765" w="4648784">
                  <a:moveTo>
                    <a:pt x="0" y="0"/>
                  </a:moveTo>
                  <a:lnTo>
                    <a:pt x="4648784" y="0"/>
                  </a:lnTo>
                  <a:lnTo>
                    <a:pt x="4648784" y="810765"/>
                  </a:lnTo>
                  <a:lnTo>
                    <a:pt x="0" y="81076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318" r="0" b="-59129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4648784" cy="8107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 b="true">
                  <a:solidFill>
                    <a:srgbClr val="F1FAF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EVIDENCE-DRIVEN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5213254" y="5222064"/>
            <a:ext cx="801336" cy="89864"/>
            <a:chOff x="0" y="0"/>
            <a:chExt cx="1013739" cy="11368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13714" cy="113722"/>
            </a:xfrm>
            <a:custGeom>
              <a:avLst/>
              <a:gdLst/>
              <a:ahLst/>
              <a:cxnLst/>
              <a:rect r="r" b="b" t="t" l="l"/>
              <a:pathLst>
                <a:path h="113722" w="1013714">
                  <a:moveTo>
                    <a:pt x="0" y="0"/>
                  </a:moveTo>
                  <a:lnTo>
                    <a:pt x="1013714" y="0"/>
                  </a:lnTo>
                  <a:lnTo>
                    <a:pt x="1013714" y="113722"/>
                  </a:lnTo>
                  <a:lnTo>
                    <a:pt x="0" y="113722"/>
                  </a:lnTo>
                  <a:close/>
                </a:path>
              </a:pathLst>
            </a:custGeom>
            <a:solidFill>
              <a:srgbClr val="37BE94"/>
            </a:solidFill>
            <a:ln w="19065" cap="sq">
              <a:solidFill>
                <a:srgbClr val="37BE94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5223303" y="5400521"/>
            <a:ext cx="3674750" cy="732445"/>
            <a:chOff x="0" y="0"/>
            <a:chExt cx="4648784" cy="92658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648784" cy="926589"/>
            </a:xfrm>
            <a:custGeom>
              <a:avLst/>
              <a:gdLst/>
              <a:ahLst/>
              <a:cxnLst/>
              <a:rect r="r" b="b" t="t" l="l"/>
              <a:pathLst>
                <a:path h="926589" w="4648784">
                  <a:moveTo>
                    <a:pt x="0" y="0"/>
                  </a:moveTo>
                  <a:lnTo>
                    <a:pt x="4648784" y="0"/>
                  </a:lnTo>
                  <a:lnTo>
                    <a:pt x="4648784" y="926589"/>
                  </a:lnTo>
                  <a:lnTo>
                    <a:pt x="0" y="92658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352" r="0" b="-4516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4648784" cy="926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75"/>
                </a:lnSpc>
              </a:pPr>
              <a:r>
                <a:rPr lang="en-US" sz="1646">
                  <a:solidFill>
                    <a:srgbClr val="A6C2B5"/>
                  </a:solidFill>
                  <a:latin typeface="Aptos"/>
                  <a:ea typeface="Aptos"/>
                  <a:cs typeface="Aptos"/>
                  <a:sym typeface="Aptos"/>
                </a:rPr>
                <a:t>Show structured findings with traceable source references.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379897" y="3284135"/>
            <a:ext cx="4186741" cy="3073053"/>
            <a:chOff x="0" y="0"/>
            <a:chExt cx="5296484" cy="38876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296408" cy="3887506"/>
            </a:xfrm>
            <a:custGeom>
              <a:avLst/>
              <a:gdLst/>
              <a:ahLst/>
              <a:cxnLst/>
              <a:rect r="r" b="b" t="t" l="l"/>
              <a:pathLst>
                <a:path h="3887506" w="5296408">
                  <a:moveTo>
                    <a:pt x="0" y="647918"/>
                  </a:moveTo>
                  <a:cubicBezTo>
                    <a:pt x="0" y="290136"/>
                    <a:pt x="275082" y="0"/>
                    <a:pt x="614299" y="0"/>
                  </a:cubicBezTo>
                  <a:lnTo>
                    <a:pt x="4682109" y="0"/>
                  </a:lnTo>
                  <a:cubicBezTo>
                    <a:pt x="5021453" y="0"/>
                    <a:pt x="5296408" y="290136"/>
                    <a:pt x="5296408" y="647918"/>
                  </a:cubicBezTo>
                  <a:lnTo>
                    <a:pt x="5296408" y="3239589"/>
                  </a:lnTo>
                  <a:cubicBezTo>
                    <a:pt x="5296408" y="3597504"/>
                    <a:pt x="5021326" y="3887506"/>
                    <a:pt x="4682109" y="3887506"/>
                  </a:cubicBezTo>
                  <a:lnTo>
                    <a:pt x="614299" y="3887506"/>
                  </a:lnTo>
                  <a:cubicBezTo>
                    <a:pt x="275082" y="3887638"/>
                    <a:pt x="0" y="3597504"/>
                    <a:pt x="0" y="3239589"/>
                  </a:cubicBezTo>
                  <a:close/>
                </a:path>
              </a:pathLst>
            </a:custGeom>
            <a:solidFill>
              <a:srgbClr val="0E221E"/>
            </a:solidFill>
            <a:ln w="19065" cap="sq">
              <a:solidFill>
                <a:srgbClr val="274F41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9640320" y="3589325"/>
            <a:ext cx="714539" cy="677343"/>
            <a:chOff x="0" y="0"/>
            <a:chExt cx="903935" cy="8568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03986" cy="856880"/>
            </a:xfrm>
            <a:custGeom>
              <a:avLst/>
              <a:gdLst/>
              <a:ahLst/>
              <a:cxnLst/>
              <a:rect r="r" b="b" t="t" l="l"/>
              <a:pathLst>
                <a:path h="856880" w="903986">
                  <a:moveTo>
                    <a:pt x="0" y="142791"/>
                  </a:moveTo>
                  <a:cubicBezTo>
                    <a:pt x="0" y="63894"/>
                    <a:pt x="60579" y="0"/>
                    <a:pt x="135382" y="0"/>
                  </a:cubicBezTo>
                  <a:lnTo>
                    <a:pt x="768477" y="0"/>
                  </a:lnTo>
                  <a:cubicBezTo>
                    <a:pt x="843280" y="0"/>
                    <a:pt x="903986" y="63894"/>
                    <a:pt x="903986" y="142791"/>
                  </a:cubicBezTo>
                  <a:lnTo>
                    <a:pt x="903986" y="714089"/>
                  </a:lnTo>
                  <a:cubicBezTo>
                    <a:pt x="903986" y="792986"/>
                    <a:pt x="843407" y="856880"/>
                    <a:pt x="768604" y="856880"/>
                  </a:cubicBezTo>
                  <a:lnTo>
                    <a:pt x="135382" y="856880"/>
                  </a:lnTo>
                  <a:cubicBezTo>
                    <a:pt x="60579" y="856880"/>
                    <a:pt x="0" y="792986"/>
                    <a:pt x="0" y="714089"/>
                  </a:cubicBezTo>
                  <a:close/>
                </a:path>
              </a:pathLst>
            </a:custGeom>
            <a:solidFill>
              <a:srgbClr val="BEF264"/>
            </a:solidFill>
            <a:ln w="19065" cap="sq">
              <a:solidFill>
                <a:srgbClr val="BEF264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9650359" y="3599924"/>
            <a:ext cx="694441" cy="656145"/>
            <a:chOff x="0" y="0"/>
            <a:chExt cx="878510" cy="83006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78510" cy="830069"/>
            </a:xfrm>
            <a:custGeom>
              <a:avLst/>
              <a:gdLst/>
              <a:ahLst/>
              <a:cxnLst/>
              <a:rect r="r" b="b" t="t" l="l"/>
              <a:pathLst>
                <a:path h="830069" w="878510">
                  <a:moveTo>
                    <a:pt x="0" y="0"/>
                  </a:moveTo>
                  <a:lnTo>
                    <a:pt x="878510" y="0"/>
                  </a:lnTo>
                  <a:lnTo>
                    <a:pt x="878510" y="830069"/>
                  </a:lnTo>
                  <a:lnTo>
                    <a:pt x="0" y="8300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4937" t="0" r="-64937" b="5189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878510" cy="8300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071211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650359" y="4484960"/>
            <a:ext cx="3674750" cy="640887"/>
            <a:chOff x="0" y="0"/>
            <a:chExt cx="4648784" cy="81076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648784" cy="810765"/>
            </a:xfrm>
            <a:custGeom>
              <a:avLst/>
              <a:gdLst/>
              <a:ahLst/>
              <a:cxnLst/>
              <a:rect r="r" b="b" t="t" l="l"/>
              <a:pathLst>
                <a:path h="810765" w="4648784">
                  <a:moveTo>
                    <a:pt x="0" y="0"/>
                  </a:moveTo>
                  <a:lnTo>
                    <a:pt x="4648784" y="0"/>
                  </a:lnTo>
                  <a:lnTo>
                    <a:pt x="4648784" y="810765"/>
                  </a:lnTo>
                  <a:lnTo>
                    <a:pt x="0" y="81076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318" r="0" b="-59129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4648784" cy="8107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 b="true">
                  <a:solidFill>
                    <a:srgbClr val="F1FAF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EXASOL ANALYTICS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640320" y="5222064"/>
            <a:ext cx="801336" cy="89864"/>
            <a:chOff x="0" y="0"/>
            <a:chExt cx="1013739" cy="11368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13714" cy="113722"/>
            </a:xfrm>
            <a:custGeom>
              <a:avLst/>
              <a:gdLst/>
              <a:ahLst/>
              <a:cxnLst/>
              <a:rect r="r" b="b" t="t" l="l"/>
              <a:pathLst>
                <a:path h="113722" w="1013714">
                  <a:moveTo>
                    <a:pt x="0" y="0"/>
                  </a:moveTo>
                  <a:lnTo>
                    <a:pt x="1013714" y="0"/>
                  </a:lnTo>
                  <a:lnTo>
                    <a:pt x="1013714" y="113722"/>
                  </a:lnTo>
                  <a:lnTo>
                    <a:pt x="0" y="113722"/>
                  </a:lnTo>
                  <a:close/>
                </a:path>
              </a:pathLst>
            </a:custGeom>
            <a:solidFill>
              <a:srgbClr val="BEF264"/>
            </a:solidFill>
            <a:ln w="19065" cap="sq">
              <a:solidFill>
                <a:srgbClr val="BEF264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9650359" y="5400521"/>
            <a:ext cx="3674750" cy="732445"/>
            <a:chOff x="0" y="0"/>
            <a:chExt cx="4648784" cy="92658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648784" cy="926589"/>
            </a:xfrm>
            <a:custGeom>
              <a:avLst/>
              <a:gdLst/>
              <a:ahLst/>
              <a:cxnLst/>
              <a:rect r="r" b="b" t="t" l="l"/>
              <a:pathLst>
                <a:path h="926589" w="4648784">
                  <a:moveTo>
                    <a:pt x="0" y="0"/>
                  </a:moveTo>
                  <a:lnTo>
                    <a:pt x="4648784" y="0"/>
                  </a:lnTo>
                  <a:lnTo>
                    <a:pt x="4648784" y="926589"/>
                  </a:lnTo>
                  <a:lnTo>
                    <a:pt x="0" y="92658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352" r="0" b="-45163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4648784" cy="926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75"/>
                </a:lnSpc>
              </a:pPr>
              <a:r>
                <a:rPr lang="en-US" sz="1646">
                  <a:solidFill>
                    <a:srgbClr val="A6C2B5"/>
                  </a:solidFill>
                  <a:latin typeface="Aptos"/>
                  <a:ea typeface="Aptos"/>
                  <a:cs typeface="Aptos"/>
                  <a:sym typeface="Aptos"/>
                </a:rPr>
                <a:t>Use SQL views and deterministic rules to evaluate operational data.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3806963" y="3284135"/>
            <a:ext cx="3955261" cy="3073053"/>
            <a:chOff x="0" y="0"/>
            <a:chExt cx="5003648" cy="38876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003673" cy="3887506"/>
            </a:xfrm>
            <a:custGeom>
              <a:avLst/>
              <a:gdLst/>
              <a:ahLst/>
              <a:cxnLst/>
              <a:rect r="r" b="b" t="t" l="l"/>
              <a:pathLst>
                <a:path h="3887506" w="5003673">
                  <a:moveTo>
                    <a:pt x="0" y="647918"/>
                  </a:moveTo>
                  <a:cubicBezTo>
                    <a:pt x="0" y="290136"/>
                    <a:pt x="275082" y="0"/>
                    <a:pt x="614299" y="0"/>
                  </a:cubicBezTo>
                  <a:lnTo>
                    <a:pt x="4389374" y="0"/>
                  </a:lnTo>
                  <a:cubicBezTo>
                    <a:pt x="4728718" y="0"/>
                    <a:pt x="5003673" y="290136"/>
                    <a:pt x="5003673" y="647918"/>
                  </a:cubicBezTo>
                  <a:lnTo>
                    <a:pt x="5003673" y="3239589"/>
                  </a:lnTo>
                  <a:cubicBezTo>
                    <a:pt x="5003673" y="3597504"/>
                    <a:pt x="4728591" y="3887506"/>
                    <a:pt x="4389374" y="3887506"/>
                  </a:cubicBezTo>
                  <a:lnTo>
                    <a:pt x="614299" y="3887506"/>
                  </a:lnTo>
                  <a:cubicBezTo>
                    <a:pt x="275082" y="3887638"/>
                    <a:pt x="0" y="3597504"/>
                    <a:pt x="0" y="3239589"/>
                  </a:cubicBezTo>
                  <a:close/>
                </a:path>
              </a:pathLst>
            </a:custGeom>
            <a:solidFill>
              <a:srgbClr val="0E221E"/>
            </a:solidFill>
            <a:ln w="19065" cap="sq">
              <a:solidFill>
                <a:srgbClr val="274F41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14067376" y="3589325"/>
            <a:ext cx="714539" cy="677343"/>
            <a:chOff x="0" y="0"/>
            <a:chExt cx="903935" cy="85688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03986" cy="856880"/>
            </a:xfrm>
            <a:custGeom>
              <a:avLst/>
              <a:gdLst/>
              <a:ahLst/>
              <a:cxnLst/>
              <a:rect r="r" b="b" t="t" l="l"/>
              <a:pathLst>
                <a:path h="856880" w="903986">
                  <a:moveTo>
                    <a:pt x="0" y="142791"/>
                  </a:moveTo>
                  <a:cubicBezTo>
                    <a:pt x="0" y="63894"/>
                    <a:pt x="60579" y="0"/>
                    <a:pt x="135382" y="0"/>
                  </a:cubicBezTo>
                  <a:lnTo>
                    <a:pt x="768477" y="0"/>
                  </a:lnTo>
                  <a:cubicBezTo>
                    <a:pt x="843280" y="0"/>
                    <a:pt x="903986" y="63894"/>
                    <a:pt x="903986" y="142791"/>
                  </a:cubicBezTo>
                  <a:lnTo>
                    <a:pt x="903986" y="714089"/>
                  </a:lnTo>
                  <a:cubicBezTo>
                    <a:pt x="903986" y="792986"/>
                    <a:pt x="843407" y="856880"/>
                    <a:pt x="768604" y="856880"/>
                  </a:cubicBezTo>
                  <a:lnTo>
                    <a:pt x="135382" y="856880"/>
                  </a:lnTo>
                  <a:cubicBezTo>
                    <a:pt x="60579" y="856880"/>
                    <a:pt x="0" y="792986"/>
                    <a:pt x="0" y="714089"/>
                  </a:cubicBezTo>
                  <a:close/>
                </a:path>
              </a:pathLst>
            </a:custGeom>
            <a:solidFill>
              <a:srgbClr val="FAAE5B"/>
            </a:solidFill>
            <a:ln w="19065" cap="sq">
              <a:solidFill>
                <a:srgbClr val="FAAE5B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4077425" y="3599924"/>
            <a:ext cx="694441" cy="656145"/>
            <a:chOff x="0" y="0"/>
            <a:chExt cx="878510" cy="830063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78510" cy="830069"/>
            </a:xfrm>
            <a:custGeom>
              <a:avLst/>
              <a:gdLst/>
              <a:ahLst/>
              <a:cxnLst/>
              <a:rect r="r" b="b" t="t" l="l"/>
              <a:pathLst>
                <a:path h="830069" w="878510">
                  <a:moveTo>
                    <a:pt x="0" y="0"/>
                  </a:moveTo>
                  <a:lnTo>
                    <a:pt x="878510" y="0"/>
                  </a:lnTo>
                  <a:lnTo>
                    <a:pt x="878510" y="830069"/>
                  </a:lnTo>
                  <a:lnTo>
                    <a:pt x="0" y="8300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4937" t="0" r="-64937" b="5189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878510" cy="8300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071211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04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4077425" y="4484960"/>
            <a:ext cx="3443270" cy="640887"/>
            <a:chOff x="0" y="0"/>
            <a:chExt cx="4355948" cy="810761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355947" cy="810765"/>
            </a:xfrm>
            <a:custGeom>
              <a:avLst/>
              <a:gdLst/>
              <a:ahLst/>
              <a:cxnLst/>
              <a:rect r="r" b="b" t="t" l="l"/>
              <a:pathLst>
                <a:path h="810765" w="4355947">
                  <a:moveTo>
                    <a:pt x="0" y="0"/>
                  </a:moveTo>
                  <a:lnTo>
                    <a:pt x="4355947" y="0"/>
                  </a:lnTo>
                  <a:lnTo>
                    <a:pt x="4355947" y="810765"/>
                  </a:lnTo>
                  <a:lnTo>
                    <a:pt x="0" y="81076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280" r="0" b="-52091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4355948" cy="8107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 b="true">
                  <a:solidFill>
                    <a:srgbClr val="F1FAF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NEXT STEPS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4067376" y="5222064"/>
            <a:ext cx="801336" cy="89864"/>
            <a:chOff x="0" y="0"/>
            <a:chExt cx="1013739" cy="113684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13714" cy="113722"/>
            </a:xfrm>
            <a:custGeom>
              <a:avLst/>
              <a:gdLst/>
              <a:ahLst/>
              <a:cxnLst/>
              <a:rect r="r" b="b" t="t" l="l"/>
              <a:pathLst>
                <a:path h="113722" w="1013714">
                  <a:moveTo>
                    <a:pt x="0" y="0"/>
                  </a:moveTo>
                  <a:lnTo>
                    <a:pt x="1013714" y="0"/>
                  </a:lnTo>
                  <a:lnTo>
                    <a:pt x="1013714" y="113722"/>
                  </a:lnTo>
                  <a:lnTo>
                    <a:pt x="0" y="113722"/>
                  </a:lnTo>
                  <a:close/>
                </a:path>
              </a:pathLst>
            </a:custGeom>
            <a:solidFill>
              <a:srgbClr val="FAAE5B"/>
            </a:solidFill>
            <a:ln w="19065" cap="sq">
              <a:solidFill>
                <a:srgbClr val="FAAE5B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14077425" y="5400521"/>
            <a:ext cx="3443270" cy="732445"/>
            <a:chOff x="0" y="0"/>
            <a:chExt cx="4355948" cy="92658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355947" cy="926589"/>
            </a:xfrm>
            <a:custGeom>
              <a:avLst/>
              <a:gdLst/>
              <a:ahLst/>
              <a:cxnLst/>
              <a:rect r="r" b="b" t="t" l="l"/>
              <a:pathLst>
                <a:path h="926589" w="4355947">
                  <a:moveTo>
                    <a:pt x="0" y="0"/>
                  </a:moveTo>
                  <a:lnTo>
                    <a:pt x="4355947" y="0"/>
                  </a:lnTo>
                  <a:lnTo>
                    <a:pt x="4355947" y="926589"/>
                  </a:lnTo>
                  <a:lnTo>
                    <a:pt x="0" y="92658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194" r="0" b="-39005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4355948" cy="926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75"/>
                </a:lnSpc>
              </a:pPr>
              <a:r>
                <a:rPr lang="en-US" sz="1646">
                  <a:solidFill>
                    <a:srgbClr val="A6C2B5"/>
                  </a:solidFill>
                  <a:latin typeface="Aptos"/>
                  <a:ea typeface="Aptos"/>
                  <a:cs typeface="Aptos"/>
                  <a:sym typeface="Aptos"/>
                </a:rPr>
                <a:t>Strengthen ingestion, monitoring, and operational integrations.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532701" y="7224682"/>
            <a:ext cx="17236439" cy="1364014"/>
            <a:chOff x="0" y="0"/>
            <a:chExt cx="21805151" cy="1725561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1805137" cy="1725548"/>
            </a:xfrm>
            <a:custGeom>
              <a:avLst/>
              <a:gdLst/>
              <a:ahLst/>
              <a:cxnLst/>
              <a:rect r="r" b="b" t="t" l="l"/>
              <a:pathLst>
                <a:path h="1725548" w="21805137">
                  <a:moveTo>
                    <a:pt x="0" y="287591"/>
                  </a:moveTo>
                  <a:cubicBezTo>
                    <a:pt x="0" y="128726"/>
                    <a:pt x="122047" y="0"/>
                    <a:pt x="272669" y="0"/>
                  </a:cubicBezTo>
                  <a:lnTo>
                    <a:pt x="21532469" y="0"/>
                  </a:lnTo>
                  <a:cubicBezTo>
                    <a:pt x="21683090" y="0"/>
                    <a:pt x="21805137" y="128726"/>
                    <a:pt x="21805137" y="287591"/>
                  </a:cubicBezTo>
                  <a:lnTo>
                    <a:pt x="21805137" y="1437957"/>
                  </a:lnTo>
                  <a:cubicBezTo>
                    <a:pt x="21805137" y="1596822"/>
                    <a:pt x="21683090" y="1725548"/>
                    <a:pt x="21532469" y="1725548"/>
                  </a:cubicBezTo>
                  <a:lnTo>
                    <a:pt x="272669" y="1725548"/>
                  </a:lnTo>
                  <a:cubicBezTo>
                    <a:pt x="122047" y="1725548"/>
                    <a:pt x="0" y="1596822"/>
                    <a:pt x="0" y="1437957"/>
                  </a:cubicBezTo>
                  <a:close/>
                </a:path>
              </a:pathLst>
            </a:custGeom>
            <a:solidFill>
              <a:srgbClr val="0A1B16"/>
            </a:solidFill>
            <a:ln w="19065" cap="sq">
              <a:solidFill>
                <a:srgbClr val="31674C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875504" y="7311571"/>
            <a:ext cx="16565309" cy="1144442"/>
            <a:chOff x="0" y="0"/>
            <a:chExt cx="20956130" cy="1447789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0956132" cy="1447794"/>
            </a:xfrm>
            <a:custGeom>
              <a:avLst/>
              <a:gdLst/>
              <a:ahLst/>
              <a:cxnLst/>
              <a:rect r="r" b="b" t="t" l="l"/>
              <a:pathLst>
                <a:path h="1447794" w="20956132">
                  <a:moveTo>
                    <a:pt x="0" y="0"/>
                  </a:moveTo>
                  <a:lnTo>
                    <a:pt x="20956132" y="0"/>
                  </a:lnTo>
                  <a:lnTo>
                    <a:pt x="20956132" y="1447794"/>
                  </a:lnTo>
                  <a:lnTo>
                    <a:pt x="0" y="144779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4631" r="0" b="-229442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0"/>
              <a:ext cx="20956130" cy="14477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2"/>
                </a:lnSpc>
              </a:pPr>
              <a:r>
                <a:rPr lang="en-US" sz="3002" b="true">
                  <a:solidFill>
                    <a:srgbClr val="F1FAF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“Detect the signal. Validate the evidence. Enable better decisions.”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295287" y="9489529"/>
            <a:ext cx="12297392" cy="457781"/>
            <a:chOff x="0" y="0"/>
            <a:chExt cx="15556954" cy="579121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5556954" cy="579118"/>
            </a:xfrm>
            <a:custGeom>
              <a:avLst/>
              <a:gdLst/>
              <a:ahLst/>
              <a:cxnLst/>
              <a:rect r="r" b="b" t="t" l="l"/>
              <a:pathLst>
                <a:path h="579118" w="15556954">
                  <a:moveTo>
                    <a:pt x="0" y="0"/>
                  </a:moveTo>
                  <a:lnTo>
                    <a:pt x="15556954" y="0"/>
                  </a:lnTo>
                  <a:lnTo>
                    <a:pt x="15556954" y="579118"/>
                  </a:lnTo>
                  <a:lnTo>
                    <a:pt x="0" y="57911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6024" r="0" b="-470836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9525"/>
              <a:ext cx="15556954" cy="5886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55"/>
                </a:lnSpc>
              </a:pPr>
              <a:r>
                <a:rPr lang="en-US" sz="1379" b="true">
                  <a:solidFill>
                    <a:srgbClr val="A6C2B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OPSNEXUS  •  EXASOL HACKATHON 2026  •  TRACK 04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5937438" y="9718419"/>
            <a:ext cx="309443" cy="173788"/>
            <a:chOff x="0" y="0"/>
            <a:chExt cx="391465" cy="219853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391541" cy="219942"/>
            </a:xfrm>
            <a:custGeom>
              <a:avLst/>
              <a:gdLst/>
              <a:ahLst/>
              <a:cxnLst/>
              <a:rect r="r" b="b" t="t" l="l"/>
              <a:pathLst>
                <a:path h="219942" w="391541">
                  <a:moveTo>
                    <a:pt x="0" y="36702"/>
                  </a:moveTo>
                  <a:cubicBezTo>
                    <a:pt x="0" y="16342"/>
                    <a:pt x="15494" y="0"/>
                    <a:pt x="34798" y="0"/>
                  </a:cubicBezTo>
                  <a:lnTo>
                    <a:pt x="356743" y="0"/>
                  </a:lnTo>
                  <a:cubicBezTo>
                    <a:pt x="375920" y="0"/>
                    <a:pt x="391541" y="16342"/>
                    <a:pt x="391541" y="36702"/>
                  </a:cubicBezTo>
                  <a:lnTo>
                    <a:pt x="391541" y="183244"/>
                  </a:lnTo>
                  <a:cubicBezTo>
                    <a:pt x="391541" y="203471"/>
                    <a:pt x="376047" y="219942"/>
                    <a:pt x="356743" y="219942"/>
                  </a:cubicBezTo>
                  <a:lnTo>
                    <a:pt x="34798" y="219942"/>
                  </a:lnTo>
                  <a:cubicBezTo>
                    <a:pt x="15494" y="219812"/>
                    <a:pt x="0" y="203471"/>
                    <a:pt x="0" y="183244"/>
                  </a:cubicBezTo>
                  <a:close/>
                </a:path>
              </a:pathLst>
            </a:custGeom>
            <a:solidFill>
              <a:srgbClr val="5BE891"/>
            </a:solidFill>
            <a:ln w="19065" cap="sq">
              <a:solidFill>
                <a:srgbClr val="5BE891"/>
              </a:solidFill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16385922" y="9718419"/>
            <a:ext cx="309443" cy="173788"/>
            <a:chOff x="0" y="0"/>
            <a:chExt cx="391465" cy="219853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91541" cy="219942"/>
            </a:xfrm>
            <a:custGeom>
              <a:avLst/>
              <a:gdLst/>
              <a:ahLst/>
              <a:cxnLst/>
              <a:rect r="r" b="b" t="t" l="l"/>
              <a:pathLst>
                <a:path h="219942" w="391541">
                  <a:moveTo>
                    <a:pt x="0" y="36702"/>
                  </a:moveTo>
                  <a:cubicBezTo>
                    <a:pt x="0" y="16342"/>
                    <a:pt x="15494" y="0"/>
                    <a:pt x="34798" y="0"/>
                  </a:cubicBezTo>
                  <a:lnTo>
                    <a:pt x="356743" y="0"/>
                  </a:lnTo>
                  <a:cubicBezTo>
                    <a:pt x="375920" y="0"/>
                    <a:pt x="391541" y="16342"/>
                    <a:pt x="391541" y="36702"/>
                  </a:cubicBezTo>
                  <a:lnTo>
                    <a:pt x="391541" y="183244"/>
                  </a:lnTo>
                  <a:cubicBezTo>
                    <a:pt x="391541" y="203471"/>
                    <a:pt x="376047" y="219942"/>
                    <a:pt x="356743" y="219942"/>
                  </a:cubicBezTo>
                  <a:lnTo>
                    <a:pt x="34798" y="219942"/>
                  </a:lnTo>
                  <a:cubicBezTo>
                    <a:pt x="15494" y="219812"/>
                    <a:pt x="0" y="203471"/>
                    <a:pt x="0" y="183244"/>
                  </a:cubicBezTo>
                  <a:close/>
                </a:path>
              </a:pathLst>
            </a:custGeom>
            <a:solidFill>
              <a:srgbClr val="37BE94"/>
            </a:solidFill>
            <a:ln w="19065" cap="sq">
              <a:solidFill>
                <a:srgbClr val="37BE94"/>
              </a:solidFill>
              <a:prstDash val="solid"/>
              <a:miter/>
            </a:ln>
          </p:spPr>
        </p:sp>
      </p:grpSp>
      <p:grpSp>
        <p:nvGrpSpPr>
          <p:cNvPr name="Group 84" id="84"/>
          <p:cNvGrpSpPr/>
          <p:nvPr/>
        </p:nvGrpSpPr>
        <p:grpSpPr>
          <a:xfrm rot="0">
            <a:off x="16834416" y="9718419"/>
            <a:ext cx="309443" cy="173788"/>
            <a:chOff x="0" y="0"/>
            <a:chExt cx="391465" cy="219853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391541" cy="219942"/>
            </a:xfrm>
            <a:custGeom>
              <a:avLst/>
              <a:gdLst/>
              <a:ahLst/>
              <a:cxnLst/>
              <a:rect r="r" b="b" t="t" l="l"/>
              <a:pathLst>
                <a:path h="219942" w="391541">
                  <a:moveTo>
                    <a:pt x="0" y="36702"/>
                  </a:moveTo>
                  <a:cubicBezTo>
                    <a:pt x="0" y="16342"/>
                    <a:pt x="15494" y="0"/>
                    <a:pt x="34798" y="0"/>
                  </a:cubicBezTo>
                  <a:lnTo>
                    <a:pt x="356743" y="0"/>
                  </a:lnTo>
                  <a:cubicBezTo>
                    <a:pt x="375920" y="0"/>
                    <a:pt x="391541" y="16342"/>
                    <a:pt x="391541" y="36702"/>
                  </a:cubicBezTo>
                  <a:lnTo>
                    <a:pt x="391541" y="183244"/>
                  </a:lnTo>
                  <a:cubicBezTo>
                    <a:pt x="391541" y="203471"/>
                    <a:pt x="376047" y="219942"/>
                    <a:pt x="356743" y="219942"/>
                  </a:cubicBezTo>
                  <a:lnTo>
                    <a:pt x="34798" y="219942"/>
                  </a:lnTo>
                  <a:cubicBezTo>
                    <a:pt x="15494" y="219812"/>
                    <a:pt x="0" y="203471"/>
                    <a:pt x="0" y="183244"/>
                  </a:cubicBezTo>
                  <a:close/>
                </a:path>
              </a:pathLst>
            </a:custGeom>
            <a:solidFill>
              <a:srgbClr val="BEF264"/>
            </a:solidFill>
            <a:ln w="19065" cap="sq">
              <a:solidFill>
                <a:srgbClr val="BEF264"/>
              </a:solidFill>
              <a:prstDash val="solid"/>
              <a:miter/>
            </a:ln>
          </p:spPr>
        </p:sp>
      </p:grpSp>
      <p:grpSp>
        <p:nvGrpSpPr>
          <p:cNvPr name="Group 86" id="86"/>
          <p:cNvGrpSpPr/>
          <p:nvPr/>
        </p:nvGrpSpPr>
        <p:grpSpPr>
          <a:xfrm rot="0">
            <a:off x="17282910" y="9718419"/>
            <a:ext cx="309443" cy="173788"/>
            <a:chOff x="0" y="0"/>
            <a:chExt cx="391465" cy="219853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91541" cy="219942"/>
            </a:xfrm>
            <a:custGeom>
              <a:avLst/>
              <a:gdLst/>
              <a:ahLst/>
              <a:cxnLst/>
              <a:rect r="r" b="b" t="t" l="l"/>
              <a:pathLst>
                <a:path h="219942" w="391541">
                  <a:moveTo>
                    <a:pt x="0" y="36702"/>
                  </a:moveTo>
                  <a:cubicBezTo>
                    <a:pt x="0" y="16342"/>
                    <a:pt x="15494" y="0"/>
                    <a:pt x="34798" y="0"/>
                  </a:cubicBezTo>
                  <a:lnTo>
                    <a:pt x="356743" y="0"/>
                  </a:lnTo>
                  <a:cubicBezTo>
                    <a:pt x="375920" y="0"/>
                    <a:pt x="391541" y="16342"/>
                    <a:pt x="391541" y="36702"/>
                  </a:cubicBezTo>
                  <a:lnTo>
                    <a:pt x="391541" y="183244"/>
                  </a:lnTo>
                  <a:cubicBezTo>
                    <a:pt x="391541" y="203471"/>
                    <a:pt x="376047" y="219942"/>
                    <a:pt x="356743" y="219942"/>
                  </a:cubicBezTo>
                  <a:lnTo>
                    <a:pt x="34798" y="219942"/>
                  </a:lnTo>
                  <a:cubicBezTo>
                    <a:pt x="15494" y="219812"/>
                    <a:pt x="0" y="203471"/>
                    <a:pt x="0" y="183244"/>
                  </a:cubicBezTo>
                  <a:close/>
                </a:path>
              </a:pathLst>
            </a:custGeom>
            <a:solidFill>
              <a:srgbClr val="FAAE5B"/>
            </a:solidFill>
            <a:ln w="19065" cap="sq">
              <a:solidFill>
                <a:srgbClr val="FAAE5B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DAHZHrrB1Qk</dc:identifier>
  <dcterms:modified xsi:type="dcterms:W3CDTF">2011-08-01T06:04:30Z</dcterms:modified>
  <cp:revision>1</cp:revision>
  <dc:title>OpsNexus_Exasol_GreenNavy_Pro_Pitch.pptx</dc:title>
</cp:coreProperties>
</file>